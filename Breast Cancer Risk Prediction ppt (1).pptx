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5143500" cx="9144000"/>
  <p:notesSz cx="6858000" cy="9144000"/>
  <p:embeddedFontLst>
    <p:embeddedFont>
      <p:font typeface="Balthazar"/>
      <p:regular r:id="rId28"/>
    </p:embeddedFont>
    <p:embeddedFont>
      <p:font typeface="Sora"/>
      <p:regular r:id="rId29"/>
      <p:bold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Balthazar-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Sora-regular.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Sora-bold.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faaf3076a1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 name="Google Shape;58;g3faaf3076a1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faaf3076a1_0_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5" name="Google Shape;65;g3faaf3076a1_0_9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faaf3076a1_0_1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2" name="Google Shape;72;g3faaf3076a1_0_17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faaf3076a1_0_2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0" name="Google Shape;80;g3faaf3076a1_0_23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faaf3076a1_0_2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8" name="Google Shape;88;g3faaf3076a1_0_29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faaf3076a1_0_3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6" name="Google Shape;96;g3faaf3076a1_0_35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faaf3076a1_0_4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4" name="Google Shape;104;g3faaf3076a1_0_41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faaf3076a1_0_4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2" name="Google Shape;112;g3faaf3076a1_0_47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faaf3076a1_0_58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g3faaf3076a1_0_5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faaf3076a1_0_6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4" name="Google Shape;134;g3faaf3076a1_0_66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faaf3076a1_0_7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2" name="Google Shape;142;g3faaf3076a1_0_72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faaf3076a1_0_9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0" name="Google Shape;150;g3faaf3076a1_0_94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faaf3076a1_0_10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8" name="Google Shape;158;g3faaf3076a1_0_100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faaf3076a1_0_10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6" name="Google Shape;166;g3faaf3076a1_0_106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faaf3076a1_0_1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g3faaf3076a1_0_11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faaf3076a1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faaf3076a1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faaf3076a1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faaf3076a1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faaf3076a1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faaf3076a1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faaf3076a1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faaf3076a1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faaf3076a1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faaf3076a1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faaf3076a1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faaf3076a1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3"/>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3" name="Google Shape;53;p13"/>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13"/>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13"/>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9.jp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9.jp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9.jp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9.jp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9.jp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9.jp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9.jp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9.jp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9.jp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9.jp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9.jp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9.jpg"/><Relationship Id="rId4" Type="http://schemas.openxmlformats.org/officeDocument/2006/relationships/image" Target="../media/image1.png"/><Relationship Id="rId5"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61" name="Google Shape;61;p1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t/>
            </a:r>
            <a:endParaRPr/>
          </a:p>
        </p:txBody>
      </p:sp>
      <p:pic>
        <p:nvPicPr>
          <p:cNvPr id="62" name="Google Shape;62;p14"/>
          <p:cNvPicPr preferRelativeResize="0"/>
          <p:nvPr/>
        </p:nvPicPr>
        <p:blipFill rotWithShape="1">
          <a:blip r:embed="rId3">
            <a:alphaModFix/>
          </a:blip>
          <a:srcRect b="0" l="0" r="0" t="0"/>
          <a:stretch/>
        </p:blipFill>
        <p:spPr>
          <a:xfrm>
            <a:off x="0" y="0"/>
            <a:ext cx="9143998" cy="51434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271475" y="205978"/>
            <a:ext cx="8229600" cy="8574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57143"/>
              <a:buFont typeface="Calibri"/>
              <a:buNone/>
            </a:pPr>
            <a:r>
              <a:t/>
            </a:r>
            <a:endParaRPr/>
          </a:p>
          <a:p>
            <a:pPr indent="0" lvl="0" marL="0" rtl="0" algn="ctr">
              <a:lnSpc>
                <a:spcPct val="100000"/>
              </a:lnSpc>
              <a:spcBef>
                <a:spcPts val="0"/>
              </a:spcBef>
              <a:spcAft>
                <a:spcPts val="0"/>
              </a:spcAft>
              <a:buClr>
                <a:schemeClr val="dk1"/>
              </a:buClr>
              <a:buSzPct val="157143"/>
              <a:buFont typeface="Calibri"/>
              <a:buNone/>
            </a:pPr>
            <a:r>
              <a:t/>
            </a:r>
            <a:endParaRPr/>
          </a:p>
        </p:txBody>
      </p:sp>
      <p:sp>
        <p:nvSpPr>
          <p:cNvPr id="68" name="Google Shape;68;p15"/>
          <p:cNvSpPr txBox="1"/>
          <p:nvPr>
            <p:ph idx="1" type="body"/>
          </p:nvPr>
        </p:nvSpPr>
        <p:spPr>
          <a:xfrm>
            <a:off x="380650" y="936094"/>
            <a:ext cx="8229600" cy="3394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358"/>
              <a:buNone/>
            </a:pPr>
            <a:r>
              <a:t/>
            </a:r>
            <a:endParaRPr sz="1708"/>
          </a:p>
        </p:txBody>
      </p:sp>
      <p:pic>
        <p:nvPicPr>
          <p:cNvPr id="69" name="Google Shape;69;p15" title="cancer breats.jpg"/>
          <p:cNvPicPr preferRelativeResize="0"/>
          <p:nvPr/>
        </p:nvPicPr>
        <p:blipFill rotWithShape="1">
          <a:blip r:embed="rId3">
            <a:alphaModFix/>
          </a:blip>
          <a:srcRect b="0" l="0" r="0" t="0"/>
          <a:stretch/>
        </p:blipFill>
        <p:spPr>
          <a:xfrm>
            <a:off x="-1620100" y="-160737"/>
            <a:ext cx="12782200" cy="471871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pic>
        <p:nvPicPr>
          <p:cNvPr descr="A close up of a device&#10;&#10;Description automatically generated" id="74" name="Google Shape;74;p16"/>
          <p:cNvPicPr preferRelativeResize="0"/>
          <p:nvPr/>
        </p:nvPicPr>
        <p:blipFill rotWithShape="1">
          <a:blip r:embed="rId3">
            <a:alphaModFix/>
          </a:blip>
          <a:srcRect b="0" l="0" r="0" t="0"/>
          <a:stretch/>
        </p:blipFill>
        <p:spPr>
          <a:xfrm>
            <a:off x="0" y="0"/>
            <a:ext cx="9143999" cy="5143499"/>
          </a:xfrm>
          <a:prstGeom prst="rect">
            <a:avLst/>
          </a:prstGeom>
          <a:noFill/>
          <a:ln>
            <a:noFill/>
          </a:ln>
        </p:spPr>
      </p:pic>
      <p:sp>
        <p:nvSpPr>
          <p:cNvPr id="75" name="Google Shape;75;p16"/>
          <p:cNvSpPr txBox="1"/>
          <p:nvPr>
            <p:ph type="title"/>
          </p:nvPr>
        </p:nvSpPr>
        <p:spPr>
          <a:xfrm>
            <a:off x="0" y="696400"/>
            <a:ext cx="4878900" cy="2081400"/>
          </a:xfrm>
          <a:prstGeom prst="rect">
            <a:avLst/>
          </a:prstGeom>
          <a:noFill/>
          <a:ln>
            <a:noFill/>
          </a:ln>
        </p:spPr>
        <p:txBody>
          <a:bodyPr anchorCtr="0" anchor="ctr" bIns="45700" lIns="91425" spcFirstLastPara="1" rIns="91425" wrap="square" tIns="45700">
            <a:noAutofit/>
          </a:bodyPr>
          <a:lstStyle/>
          <a:p>
            <a:pPr indent="0" lvl="0" marL="0" rtl="0" algn="l">
              <a:lnSpc>
                <a:spcPct val="135714"/>
              </a:lnSpc>
              <a:spcBef>
                <a:spcPts val="0"/>
              </a:spcBef>
              <a:spcAft>
                <a:spcPts val="0"/>
              </a:spcAft>
              <a:buClr>
                <a:schemeClr val="dk1"/>
              </a:buClr>
              <a:buSzPts val="1100"/>
              <a:buFont typeface="Arial"/>
              <a:buNone/>
            </a:pPr>
            <a:r>
              <a:rPr b="1" lang="en-GB" sz="1050">
                <a:solidFill>
                  <a:srgbClr val="0000FF"/>
                </a:solidFill>
                <a:highlight>
                  <a:srgbClr val="FFFFFF"/>
                </a:highlight>
                <a:latin typeface="Courier New"/>
                <a:ea typeface="Courier New"/>
                <a:cs typeface="Courier New"/>
                <a:sym typeface="Courier New"/>
              </a:rPr>
              <a:t> </a:t>
            </a:r>
            <a:r>
              <a:rPr b="1" lang="en-GB" sz="1350">
                <a:solidFill>
                  <a:srgbClr val="0000FF"/>
                </a:solidFill>
                <a:highlight>
                  <a:srgbClr val="FFFFFF"/>
                </a:highlight>
                <a:latin typeface="Courier New"/>
                <a:ea typeface="Courier New"/>
                <a:cs typeface="Courier New"/>
                <a:sym typeface="Courier New"/>
              </a:rPr>
              <a:t>**Breast Cancer Risk Prediction using Machine Learning**</a:t>
            </a:r>
            <a:endParaRPr b="1" sz="1350">
              <a:solidFill>
                <a:srgbClr val="0000FF"/>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t/>
            </a:r>
            <a:endParaRPr b="1" sz="2150">
              <a:solidFill>
                <a:srgbClr val="0000FF"/>
              </a:solidFill>
              <a:highlight>
                <a:srgbClr val="FFFFFF"/>
              </a:highlight>
              <a:latin typeface="Courier New"/>
              <a:ea typeface="Courier New"/>
              <a:cs typeface="Courier New"/>
              <a:sym typeface="Courier New"/>
            </a:endParaRPr>
          </a:p>
          <a:p>
            <a:pPr indent="0" lvl="0" marL="0" rtl="0" algn="ctr">
              <a:lnSpc>
                <a:spcPct val="100000"/>
              </a:lnSpc>
              <a:spcBef>
                <a:spcPts val="0"/>
              </a:spcBef>
              <a:spcAft>
                <a:spcPts val="0"/>
              </a:spcAft>
              <a:buClr>
                <a:schemeClr val="dk1"/>
              </a:buClr>
              <a:buSzPts val="4400"/>
              <a:buFont typeface="Calibri"/>
              <a:buNone/>
            </a:pPr>
            <a:r>
              <a:rPr b="1" lang="en-GB"/>
              <a:t> </a:t>
            </a:r>
            <a:endParaRPr b="1" sz="5100"/>
          </a:p>
        </p:txBody>
      </p:sp>
      <p:sp>
        <p:nvSpPr>
          <p:cNvPr id="76" name="Google Shape;76;p16"/>
          <p:cNvSpPr txBox="1"/>
          <p:nvPr>
            <p:ph idx="1" type="body"/>
          </p:nvPr>
        </p:nvSpPr>
        <p:spPr>
          <a:xfrm>
            <a:off x="313650" y="3736000"/>
            <a:ext cx="8229600" cy="1146900"/>
          </a:xfrm>
          <a:prstGeom prst="rect">
            <a:avLst/>
          </a:prstGeom>
          <a:noFill/>
          <a:ln>
            <a:noFill/>
          </a:ln>
        </p:spPr>
        <p:txBody>
          <a:bodyPr anchorCtr="0" anchor="t" bIns="45700" lIns="91425" spcFirstLastPara="1" rIns="91425" wrap="square" tIns="45700">
            <a:normAutofit lnSpcReduction="20000"/>
          </a:bodyPr>
          <a:lstStyle/>
          <a:p>
            <a:pPr indent="-254000" lvl="0" marL="342900" rtl="0" algn="l">
              <a:lnSpc>
                <a:spcPct val="100000"/>
              </a:lnSpc>
              <a:spcBef>
                <a:spcPts val="0"/>
              </a:spcBef>
              <a:spcAft>
                <a:spcPts val="0"/>
              </a:spcAft>
              <a:buClr>
                <a:schemeClr val="dk1"/>
              </a:buClr>
              <a:buSzPts val="1800"/>
              <a:buChar char="•"/>
            </a:pPr>
            <a:r>
              <a:rPr b="1" lang="en-GB" sz="1800">
                <a:solidFill>
                  <a:schemeClr val="dk1"/>
                </a:solidFill>
              </a:rPr>
              <a:t>Presented by</a:t>
            </a:r>
            <a:r>
              <a:rPr lang="en-GB" sz="1800">
                <a:solidFill>
                  <a:schemeClr val="dk1"/>
                </a:solidFill>
                <a:latin typeface="Calibri"/>
                <a:ea typeface="Calibri"/>
                <a:cs typeface="Calibri"/>
                <a:sym typeface="Calibri"/>
              </a:rPr>
              <a:t>: </a:t>
            </a:r>
            <a:r>
              <a:rPr lang="en-GB"/>
              <a:t>Rahul Mishra</a:t>
            </a:r>
            <a:endParaRPr sz="1800"/>
          </a:p>
          <a:p>
            <a:pPr indent="-254000" lvl="0" marL="342900" rtl="0" algn="l">
              <a:lnSpc>
                <a:spcPct val="100000"/>
              </a:lnSpc>
              <a:spcBef>
                <a:spcPts val="640"/>
              </a:spcBef>
              <a:spcAft>
                <a:spcPts val="0"/>
              </a:spcAft>
              <a:buClr>
                <a:schemeClr val="dk1"/>
              </a:buClr>
              <a:buSzPts val="1800"/>
              <a:buChar char="•"/>
            </a:pPr>
            <a:r>
              <a:rPr b="1" lang="en-GB" sz="1800">
                <a:solidFill>
                  <a:schemeClr val="dk1"/>
                </a:solidFill>
              </a:rPr>
              <a:t>Domain: </a:t>
            </a:r>
            <a:r>
              <a:rPr lang="en-GB" sz="1800">
                <a:solidFill>
                  <a:schemeClr val="dk1"/>
                </a:solidFill>
              </a:rPr>
              <a:t>Data </a:t>
            </a:r>
            <a:r>
              <a:rPr lang="en-GB" sz="1800">
                <a:solidFill>
                  <a:schemeClr val="dk1"/>
                </a:solidFill>
                <a:latin typeface="Calibri"/>
                <a:ea typeface="Calibri"/>
                <a:cs typeface="Calibri"/>
                <a:sym typeface="Calibri"/>
              </a:rPr>
              <a:t>Science &amp; Machine Learning</a:t>
            </a:r>
            <a:endParaRPr sz="1800"/>
          </a:p>
          <a:p>
            <a:pPr indent="-254000" lvl="0" marL="342900" rtl="0" algn="l">
              <a:lnSpc>
                <a:spcPct val="100000"/>
              </a:lnSpc>
              <a:spcBef>
                <a:spcPts val="640"/>
              </a:spcBef>
              <a:spcAft>
                <a:spcPts val="0"/>
              </a:spcAft>
              <a:buClr>
                <a:schemeClr val="dk1"/>
              </a:buClr>
              <a:buSzPts val="1800"/>
              <a:buChar char="•"/>
            </a:pPr>
            <a:r>
              <a:rPr b="1" lang="en-GB" sz="1800">
                <a:solidFill>
                  <a:schemeClr val="dk1"/>
                </a:solidFill>
              </a:rPr>
              <a:t>Tools</a:t>
            </a:r>
            <a:r>
              <a:rPr lang="en-GB" sz="1800">
                <a:solidFill>
                  <a:schemeClr val="dk1"/>
                </a:solidFill>
                <a:latin typeface="Calibri"/>
                <a:ea typeface="Calibri"/>
                <a:cs typeface="Calibri"/>
                <a:sym typeface="Calibri"/>
              </a:rPr>
              <a:t>: Python, Pandas, Scikit-Learn, </a:t>
            </a:r>
            <a:r>
              <a:rPr lang="en-GB" sz="1800"/>
              <a:t>K Means, DBSCAN,</a:t>
            </a:r>
            <a:r>
              <a:rPr lang="en-GB"/>
              <a:t> Machine Learning, Random forests., NUMPY, linear regression.</a:t>
            </a:r>
            <a:endParaRPr sz="1800"/>
          </a:p>
        </p:txBody>
      </p:sp>
      <p:pic>
        <p:nvPicPr>
          <p:cNvPr id="77" name="Google Shape;77;p16"/>
          <p:cNvPicPr preferRelativeResize="0"/>
          <p:nvPr/>
        </p:nvPicPr>
        <p:blipFill rotWithShape="1">
          <a:blip r:embed="rId4">
            <a:alphaModFix/>
          </a:blip>
          <a:srcRect b="0" l="0" r="0" t="0"/>
          <a:stretch/>
        </p:blipFill>
        <p:spPr>
          <a:xfrm>
            <a:off x="8299466" y="4690671"/>
            <a:ext cx="611424" cy="16151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pic>
        <p:nvPicPr>
          <p:cNvPr descr="A close up of a device&#10;&#10;Description automatically generated" id="82" name="Google Shape;82;p17"/>
          <p:cNvPicPr preferRelativeResize="0"/>
          <p:nvPr/>
        </p:nvPicPr>
        <p:blipFill rotWithShape="1">
          <a:blip r:embed="rId3">
            <a:alphaModFix/>
          </a:blip>
          <a:srcRect b="0" l="0" r="0" t="0"/>
          <a:stretch/>
        </p:blipFill>
        <p:spPr>
          <a:xfrm>
            <a:off x="0" y="0"/>
            <a:ext cx="9143999" cy="5143499"/>
          </a:xfrm>
          <a:prstGeom prst="rect">
            <a:avLst/>
          </a:prstGeom>
          <a:noFill/>
          <a:ln>
            <a:noFill/>
          </a:ln>
        </p:spPr>
      </p:pic>
      <p:sp>
        <p:nvSpPr>
          <p:cNvPr id="83" name="Google Shape;83;p17"/>
          <p:cNvSpPr txBox="1"/>
          <p:nvPr>
            <p:ph type="title"/>
          </p:nvPr>
        </p:nvSpPr>
        <p:spPr>
          <a:xfrm>
            <a:off x="251475" y="195275"/>
            <a:ext cx="6550800" cy="5325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40909"/>
              <a:buFont typeface="Arial"/>
              <a:buNone/>
            </a:pPr>
            <a:r>
              <a:rPr lang="en-GB" sz="4400">
                <a:latin typeface="Calibri"/>
                <a:ea typeface="Calibri"/>
                <a:cs typeface="Calibri"/>
                <a:sym typeface="Calibri"/>
              </a:rPr>
              <a:t>Introduction : Breast Cancer</a:t>
            </a:r>
            <a:endParaRPr b="1" sz="3300"/>
          </a:p>
        </p:txBody>
      </p:sp>
      <p:sp>
        <p:nvSpPr>
          <p:cNvPr id="84" name="Google Shape;84;p17"/>
          <p:cNvSpPr txBox="1"/>
          <p:nvPr>
            <p:ph idx="1" type="body"/>
          </p:nvPr>
        </p:nvSpPr>
        <p:spPr>
          <a:xfrm>
            <a:off x="457200" y="938550"/>
            <a:ext cx="8229600" cy="36909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GB" sz="1700">
                <a:solidFill>
                  <a:schemeClr val="dk1"/>
                </a:solidFill>
              </a:rPr>
              <a:t>Introduction</a:t>
            </a:r>
            <a:endParaRPr b="1" sz="1700">
              <a:solidFill>
                <a:schemeClr val="dk1"/>
              </a:solidFill>
            </a:endParaRPr>
          </a:p>
          <a:p>
            <a:pPr indent="-330200" lvl="0" marL="457200" rtl="0" algn="l">
              <a:lnSpc>
                <a:spcPct val="115000"/>
              </a:lnSpc>
              <a:spcBef>
                <a:spcPts val="1200"/>
              </a:spcBef>
              <a:spcAft>
                <a:spcPts val="0"/>
              </a:spcAft>
              <a:buSzPts val="1600"/>
              <a:buChar char="●"/>
            </a:pPr>
            <a:r>
              <a:rPr b="1" lang="en-GB" sz="1600">
                <a:solidFill>
                  <a:schemeClr val="dk1"/>
                </a:solidFill>
              </a:rPr>
              <a:t>Breast cancer is a disease in which cells in the breast tissue divide and grow uncontrollably, often forming a tumor that can be felt as a lump or detected through medical imaging. Although it primarily affects women, men can also develop it in rare cases. The condition typically originates either in the milk ducts, known as ductal carcinoma, or in the milk-producing glands, known as lobular carcinoma. When cancer cells remain confined to their point of origin, the condition is considered non-invasive, whereas invasive breast cancer occurs when those cells break out and spread into adjacent breast tissue or nearby lymph nodes. </a:t>
            </a:r>
            <a:endParaRPr b="1" sz="1600">
              <a:solidFill>
                <a:schemeClr val="dk1"/>
              </a:solidFill>
            </a:endParaRPr>
          </a:p>
          <a:p>
            <a:pPr indent="0" lvl="0" marL="342900" rtl="0" algn="l">
              <a:lnSpc>
                <a:spcPct val="100000"/>
              </a:lnSpc>
              <a:spcBef>
                <a:spcPts val="1200"/>
              </a:spcBef>
              <a:spcAft>
                <a:spcPts val="0"/>
              </a:spcAft>
              <a:buSzPts val="1800"/>
              <a:buNone/>
            </a:pPr>
            <a:r>
              <a:t/>
            </a:r>
            <a:endParaRPr b="1" sz="2500"/>
          </a:p>
        </p:txBody>
      </p:sp>
      <p:pic>
        <p:nvPicPr>
          <p:cNvPr id="85" name="Google Shape;85;p17"/>
          <p:cNvPicPr preferRelativeResize="0"/>
          <p:nvPr/>
        </p:nvPicPr>
        <p:blipFill rotWithShape="1">
          <a:blip r:embed="rId4">
            <a:alphaModFix/>
          </a:blip>
          <a:srcRect b="0" l="0" r="0" t="0"/>
          <a:stretch/>
        </p:blipFill>
        <p:spPr>
          <a:xfrm>
            <a:off x="8299466" y="4690671"/>
            <a:ext cx="611424" cy="16151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pic>
        <p:nvPicPr>
          <p:cNvPr descr="A close up of a device&#10;&#10;Description automatically generated" id="90" name="Google Shape;90;p18"/>
          <p:cNvPicPr preferRelativeResize="0"/>
          <p:nvPr/>
        </p:nvPicPr>
        <p:blipFill rotWithShape="1">
          <a:blip r:embed="rId3">
            <a:alphaModFix/>
          </a:blip>
          <a:srcRect b="0" l="0" r="0" t="0"/>
          <a:stretch/>
        </p:blipFill>
        <p:spPr>
          <a:xfrm>
            <a:off x="0" y="12859"/>
            <a:ext cx="9143999" cy="5143499"/>
          </a:xfrm>
          <a:prstGeom prst="rect">
            <a:avLst/>
          </a:prstGeom>
          <a:noFill/>
          <a:ln>
            <a:noFill/>
          </a:ln>
        </p:spPr>
      </p:pic>
      <p:sp>
        <p:nvSpPr>
          <p:cNvPr id="91" name="Google Shape;91;p18"/>
          <p:cNvSpPr txBox="1"/>
          <p:nvPr>
            <p:ph type="title"/>
          </p:nvPr>
        </p:nvSpPr>
        <p:spPr>
          <a:xfrm>
            <a:off x="471425" y="229225"/>
            <a:ext cx="3591300" cy="5172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57142"/>
              <a:buFont typeface="Calibri"/>
              <a:buNone/>
            </a:pPr>
            <a:r>
              <a:rPr b="1" lang="en-GB" sz="2800">
                <a:solidFill>
                  <a:schemeClr val="dk1"/>
                </a:solidFill>
              </a:rPr>
              <a:t>Problem Statement</a:t>
            </a:r>
            <a:endParaRPr b="1" sz="2800"/>
          </a:p>
        </p:txBody>
      </p:sp>
      <p:sp>
        <p:nvSpPr>
          <p:cNvPr id="92" name="Google Shape;92;p18"/>
          <p:cNvSpPr txBox="1"/>
          <p:nvPr>
            <p:ph idx="1" type="body"/>
          </p:nvPr>
        </p:nvSpPr>
        <p:spPr>
          <a:xfrm>
            <a:off x="659175" y="746425"/>
            <a:ext cx="6607500" cy="45420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3200"/>
              <a:buChar char="•"/>
            </a:pPr>
            <a:r>
              <a:rPr b="1" i="1" lang="en-GB" sz="3200">
                <a:solidFill>
                  <a:schemeClr val="dk1"/>
                </a:solidFill>
                <a:latin typeface="Calibri"/>
                <a:ea typeface="Calibri"/>
                <a:cs typeface="Calibri"/>
                <a:sym typeface="Calibri"/>
              </a:rPr>
              <a:t>The problem statement of this project is to analyze breast cancer patient data and predict the patient’s survival status using clinical and biological features.</a:t>
            </a:r>
            <a:endParaRPr b="1" i="1" sz="3200">
              <a:solidFill>
                <a:schemeClr val="dk1"/>
              </a:solidFill>
              <a:latin typeface="Calibri"/>
              <a:ea typeface="Calibri"/>
              <a:cs typeface="Calibri"/>
              <a:sym typeface="Calibri"/>
            </a:endParaRPr>
          </a:p>
          <a:p>
            <a:pPr indent="-342900" lvl="0" marL="342900" rtl="0" algn="l">
              <a:spcBef>
                <a:spcPts val="0"/>
              </a:spcBef>
              <a:spcAft>
                <a:spcPts val="0"/>
              </a:spcAft>
              <a:buSzPts val="3200"/>
              <a:buChar char="•"/>
            </a:pPr>
            <a:r>
              <a:rPr b="1" i="1" lang="en-GB" sz="3200">
                <a:solidFill>
                  <a:schemeClr val="dk1"/>
                </a:solidFill>
                <a:latin typeface="Calibri"/>
                <a:ea typeface="Calibri"/>
                <a:cs typeface="Calibri"/>
                <a:sym typeface="Calibri"/>
              </a:rPr>
              <a:t>The goal is to identify important factors that affect patient outcomes and help in early diagnosis and better treatment planning.</a:t>
            </a:r>
            <a:endParaRPr b="1" sz="1650">
              <a:latin typeface="Sora"/>
              <a:ea typeface="Sora"/>
              <a:cs typeface="Sora"/>
              <a:sym typeface="Sora"/>
            </a:endParaRPr>
          </a:p>
          <a:p>
            <a:pPr indent="0" lvl="0" marL="0" rtl="0" algn="l">
              <a:lnSpc>
                <a:spcPct val="115000"/>
              </a:lnSpc>
              <a:spcBef>
                <a:spcPts val="1200"/>
              </a:spcBef>
              <a:spcAft>
                <a:spcPts val="1200"/>
              </a:spcAft>
              <a:buSzPts val="1800"/>
              <a:buNone/>
            </a:pPr>
            <a:r>
              <a:t/>
            </a:r>
            <a:endParaRPr b="1" sz="1650">
              <a:latin typeface="Sora"/>
              <a:ea typeface="Sora"/>
              <a:cs typeface="Sora"/>
              <a:sym typeface="Sora"/>
            </a:endParaRPr>
          </a:p>
        </p:txBody>
      </p:sp>
      <p:pic>
        <p:nvPicPr>
          <p:cNvPr id="93" name="Google Shape;93;p18"/>
          <p:cNvPicPr preferRelativeResize="0"/>
          <p:nvPr/>
        </p:nvPicPr>
        <p:blipFill rotWithShape="1">
          <a:blip r:embed="rId4">
            <a:alphaModFix/>
          </a:blip>
          <a:srcRect b="0" l="0" r="0" t="0"/>
          <a:stretch/>
        </p:blipFill>
        <p:spPr>
          <a:xfrm>
            <a:off x="8299466" y="4702633"/>
            <a:ext cx="611424" cy="16151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pic>
        <p:nvPicPr>
          <p:cNvPr descr="A close up of a device&#10;&#10;Description automatically generated" id="98" name="Google Shape;98;p19"/>
          <p:cNvPicPr preferRelativeResize="0"/>
          <p:nvPr/>
        </p:nvPicPr>
        <p:blipFill rotWithShape="1">
          <a:blip r:embed="rId3">
            <a:alphaModFix/>
          </a:blip>
          <a:srcRect b="0" l="0" r="0" t="0"/>
          <a:stretch/>
        </p:blipFill>
        <p:spPr>
          <a:xfrm>
            <a:off x="0" y="0"/>
            <a:ext cx="9143999" cy="5143499"/>
          </a:xfrm>
          <a:prstGeom prst="rect">
            <a:avLst/>
          </a:prstGeom>
          <a:noFill/>
          <a:ln>
            <a:noFill/>
          </a:ln>
        </p:spPr>
      </p:pic>
      <p:sp>
        <p:nvSpPr>
          <p:cNvPr id="99" name="Google Shape;99;p19"/>
          <p:cNvSpPr txBox="1"/>
          <p:nvPr>
            <p:ph type="title"/>
          </p:nvPr>
        </p:nvSpPr>
        <p:spPr>
          <a:xfrm>
            <a:off x="457200" y="869575"/>
            <a:ext cx="3733200" cy="6459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33333"/>
              <a:buFont typeface="Calibri"/>
              <a:buNone/>
            </a:pPr>
            <a:r>
              <a:rPr b="1" lang="en-GB" sz="3300">
                <a:solidFill>
                  <a:schemeClr val="dk1"/>
                </a:solidFill>
              </a:rPr>
              <a:t>Project Objectives</a:t>
            </a:r>
            <a:endParaRPr b="1" sz="3300"/>
          </a:p>
        </p:txBody>
      </p:sp>
      <p:sp>
        <p:nvSpPr>
          <p:cNvPr id="100" name="Google Shape;100;p19"/>
          <p:cNvSpPr txBox="1"/>
          <p:nvPr>
            <p:ph idx="1" type="body"/>
          </p:nvPr>
        </p:nvSpPr>
        <p:spPr>
          <a:xfrm>
            <a:off x="457200" y="1684375"/>
            <a:ext cx="8229600" cy="30063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1200"/>
              </a:spcAft>
              <a:buSzPts val="1800"/>
              <a:buNone/>
            </a:pPr>
            <a:r>
              <a:rPr b="1" lang="en-GB" sz="1500">
                <a:solidFill>
                  <a:srgbClr val="1F1F1F"/>
                </a:solidFill>
                <a:latin typeface="Sora"/>
                <a:ea typeface="Sora"/>
                <a:cs typeface="Sora"/>
                <a:sym typeface="Sora"/>
              </a:rPr>
              <a:t>The main objective of this project is to analyze breast cancer patient data and identify the important clinical factors that may be related to patient outcomes. The project uses patient information such as age, tumor size, tumor stage, hormone receptor status, and treatment details. Using these features, we aim to build a machine learning classification model that can predict the patient's vital status, whether the patient is Alive or Died. This project also helps us understand patterns in the data and identify factors that may be associated with patient survival outcomes. </a:t>
            </a:r>
            <a:endParaRPr b="1" sz="1600">
              <a:latin typeface="Sora"/>
              <a:ea typeface="Sora"/>
              <a:cs typeface="Sora"/>
              <a:sym typeface="Sora"/>
            </a:endParaRPr>
          </a:p>
        </p:txBody>
      </p:sp>
      <p:pic>
        <p:nvPicPr>
          <p:cNvPr id="101" name="Google Shape;101;p19"/>
          <p:cNvPicPr preferRelativeResize="0"/>
          <p:nvPr/>
        </p:nvPicPr>
        <p:blipFill rotWithShape="1">
          <a:blip r:embed="rId4">
            <a:alphaModFix/>
          </a:blip>
          <a:srcRect b="0" l="0" r="0" t="0"/>
          <a:stretch/>
        </p:blipFill>
        <p:spPr>
          <a:xfrm>
            <a:off x="8299466" y="4690671"/>
            <a:ext cx="611424" cy="16151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pic>
        <p:nvPicPr>
          <p:cNvPr descr="A close up of a device&#10;&#10;Description automatically generated" id="106" name="Google Shape;106;p20"/>
          <p:cNvPicPr preferRelativeResize="0"/>
          <p:nvPr/>
        </p:nvPicPr>
        <p:blipFill rotWithShape="1">
          <a:blip r:embed="rId3">
            <a:alphaModFix/>
          </a:blip>
          <a:srcRect b="0" l="0" r="0" t="0"/>
          <a:stretch/>
        </p:blipFill>
        <p:spPr>
          <a:xfrm>
            <a:off x="0" y="-142175"/>
            <a:ext cx="9143999" cy="5143499"/>
          </a:xfrm>
          <a:prstGeom prst="rect">
            <a:avLst/>
          </a:prstGeom>
          <a:noFill/>
          <a:ln>
            <a:noFill/>
          </a:ln>
        </p:spPr>
      </p:pic>
      <p:sp>
        <p:nvSpPr>
          <p:cNvPr id="107" name="Google Shape;107;p20"/>
          <p:cNvSpPr txBox="1"/>
          <p:nvPr>
            <p:ph type="title"/>
          </p:nvPr>
        </p:nvSpPr>
        <p:spPr>
          <a:xfrm>
            <a:off x="575400" y="-142175"/>
            <a:ext cx="3996600" cy="6399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15789"/>
              <a:buFont typeface="Calibri"/>
              <a:buNone/>
            </a:pPr>
            <a:r>
              <a:rPr b="1" lang="en-GB" sz="3800">
                <a:solidFill>
                  <a:schemeClr val="dk1"/>
                </a:solidFill>
              </a:rPr>
              <a:t>Dataset Overview</a:t>
            </a:r>
            <a:endParaRPr b="1" sz="3800"/>
          </a:p>
        </p:txBody>
      </p:sp>
      <p:sp>
        <p:nvSpPr>
          <p:cNvPr id="108" name="Google Shape;108;p20"/>
          <p:cNvSpPr txBox="1"/>
          <p:nvPr>
            <p:ph idx="1" type="body"/>
          </p:nvPr>
        </p:nvSpPr>
        <p:spPr>
          <a:xfrm>
            <a:off x="130200" y="497725"/>
            <a:ext cx="9013800" cy="4549200"/>
          </a:xfrm>
          <a:prstGeom prst="rect">
            <a:avLst/>
          </a:prstGeom>
          <a:noFill/>
          <a:ln>
            <a:noFill/>
          </a:ln>
        </p:spPr>
        <p:txBody>
          <a:bodyPr anchorCtr="0" anchor="t" bIns="45700" lIns="91425" spcFirstLastPara="1" rIns="91425" wrap="square" tIns="45700">
            <a:noAutofit/>
          </a:bodyPr>
          <a:lstStyle/>
          <a:p>
            <a:pPr indent="0" lvl="0" marL="0" rtl="0" algn="l">
              <a:lnSpc>
                <a:spcPct val="95000"/>
              </a:lnSpc>
              <a:spcBef>
                <a:spcPts val="1800"/>
              </a:spcBef>
              <a:spcAft>
                <a:spcPts val="0"/>
              </a:spcAft>
              <a:buNone/>
            </a:pPr>
            <a:r>
              <a:rPr b="1" lang="en-GB" sz="1500">
                <a:solidFill>
                  <a:schemeClr val="dk1"/>
                </a:solidFill>
              </a:rPr>
              <a:t>📊 Dataset Overview (Paste in PPT)</a:t>
            </a:r>
            <a:endParaRPr b="1" sz="1500">
              <a:solidFill>
                <a:schemeClr val="dk1"/>
              </a:solidFill>
            </a:endParaRPr>
          </a:p>
          <a:p>
            <a:pPr indent="0" lvl="0" marL="0" rtl="0" algn="l">
              <a:lnSpc>
                <a:spcPct val="95000"/>
              </a:lnSpc>
              <a:spcBef>
                <a:spcPts val="1200"/>
              </a:spcBef>
              <a:spcAft>
                <a:spcPts val="0"/>
              </a:spcAft>
              <a:buNone/>
            </a:pPr>
            <a:r>
              <a:rPr b="1" lang="en-GB" sz="1000">
                <a:solidFill>
                  <a:schemeClr val="dk1"/>
                </a:solidFill>
              </a:rPr>
              <a:t>Dataset Name:</a:t>
            </a:r>
            <a:br>
              <a:rPr b="1" lang="en-GB" sz="1000">
                <a:solidFill>
                  <a:schemeClr val="dk1"/>
                </a:solidFill>
              </a:rPr>
            </a:br>
            <a:r>
              <a:rPr b="1" lang="en-GB" sz="1000">
                <a:solidFill>
                  <a:schemeClr val="dk1"/>
                </a:solidFill>
              </a:rPr>
              <a:t> Breast Cancer Dataset</a:t>
            </a:r>
            <a:endParaRPr b="1" sz="1000">
              <a:solidFill>
                <a:schemeClr val="dk1"/>
              </a:solidFill>
            </a:endParaRPr>
          </a:p>
          <a:p>
            <a:pPr indent="0" lvl="0" marL="0" rtl="0" algn="l">
              <a:lnSpc>
                <a:spcPct val="95000"/>
              </a:lnSpc>
              <a:spcBef>
                <a:spcPts val="1200"/>
              </a:spcBef>
              <a:spcAft>
                <a:spcPts val="0"/>
              </a:spcAft>
              <a:buNone/>
            </a:pPr>
            <a:r>
              <a:rPr b="1" lang="en-GB" sz="1000">
                <a:solidFill>
                  <a:schemeClr val="dk1"/>
                </a:solidFill>
              </a:rPr>
              <a:t>Source:</a:t>
            </a:r>
            <a:br>
              <a:rPr b="1" lang="en-GB" sz="1000">
                <a:solidFill>
                  <a:schemeClr val="dk1"/>
                </a:solidFill>
              </a:rPr>
            </a:br>
            <a:r>
              <a:rPr b="1" lang="en-GB" sz="1000">
                <a:solidFill>
                  <a:schemeClr val="dk1"/>
                </a:solidFill>
              </a:rPr>
              <a:t> Publicly available medical dataset (used for academic and learning purposes)</a:t>
            </a:r>
            <a:endParaRPr b="1" sz="1000">
              <a:solidFill>
                <a:schemeClr val="dk1"/>
              </a:solidFill>
            </a:endParaRPr>
          </a:p>
          <a:p>
            <a:pPr indent="0" lvl="0" marL="0" rtl="0" algn="l">
              <a:lnSpc>
                <a:spcPct val="95000"/>
              </a:lnSpc>
              <a:spcBef>
                <a:spcPts val="1200"/>
              </a:spcBef>
              <a:spcAft>
                <a:spcPts val="0"/>
              </a:spcAft>
              <a:buNone/>
            </a:pPr>
            <a:r>
              <a:rPr b="1" lang="en-GB" sz="1000">
                <a:solidFill>
                  <a:schemeClr val="dk1"/>
                </a:solidFill>
              </a:rPr>
              <a:t>Number of Records:</a:t>
            </a:r>
            <a:br>
              <a:rPr b="1" lang="en-GB" sz="1000">
                <a:solidFill>
                  <a:schemeClr val="dk1"/>
                </a:solidFill>
              </a:rPr>
            </a:br>
            <a:r>
              <a:rPr b="1" lang="en-GB" sz="1000">
                <a:solidFill>
                  <a:schemeClr val="dk1"/>
                </a:solidFill>
              </a:rPr>
              <a:t> Approximately 2,000 patient records</a:t>
            </a:r>
            <a:endParaRPr b="1" sz="1000">
              <a:solidFill>
                <a:schemeClr val="dk1"/>
              </a:solidFill>
            </a:endParaRPr>
          </a:p>
          <a:p>
            <a:pPr indent="0" lvl="0" marL="0" rtl="0" algn="l">
              <a:lnSpc>
                <a:spcPct val="95000"/>
              </a:lnSpc>
              <a:spcBef>
                <a:spcPts val="1200"/>
              </a:spcBef>
              <a:spcAft>
                <a:spcPts val="0"/>
              </a:spcAft>
              <a:buNone/>
            </a:pPr>
            <a:r>
              <a:rPr b="1" lang="en-GB" sz="1000">
                <a:solidFill>
                  <a:schemeClr val="dk1"/>
                </a:solidFill>
              </a:rPr>
              <a:t>Number of Features:</a:t>
            </a:r>
            <a:br>
              <a:rPr b="1" lang="en-GB" sz="1000">
                <a:solidFill>
                  <a:schemeClr val="dk1"/>
                </a:solidFill>
              </a:rPr>
            </a:br>
            <a:r>
              <a:rPr b="1" lang="en-GB" sz="1000">
                <a:solidFill>
                  <a:schemeClr val="dk1"/>
                </a:solidFill>
              </a:rPr>
              <a:t> Around 30 input features + 1 target variable</a:t>
            </a:r>
            <a:endParaRPr b="1" sz="1000">
              <a:solidFill>
                <a:schemeClr val="dk1"/>
              </a:solidFill>
            </a:endParaRPr>
          </a:p>
          <a:p>
            <a:pPr indent="0" lvl="0" marL="0" rtl="0" algn="l">
              <a:lnSpc>
                <a:spcPct val="95000"/>
              </a:lnSpc>
              <a:spcBef>
                <a:spcPts val="1200"/>
              </a:spcBef>
              <a:spcAft>
                <a:spcPts val="0"/>
              </a:spcAft>
              <a:buNone/>
            </a:pPr>
            <a:r>
              <a:rPr b="1" lang="en-GB" sz="1000">
                <a:solidFill>
                  <a:schemeClr val="dk1"/>
                </a:solidFill>
              </a:rPr>
              <a:t>Target Variable:</a:t>
            </a:r>
            <a:br>
              <a:rPr b="1" lang="en-GB" sz="1000">
                <a:solidFill>
                  <a:schemeClr val="dk1"/>
                </a:solidFill>
              </a:rPr>
            </a:br>
            <a:r>
              <a:rPr b="1" lang="en-GB" sz="1000">
                <a:solidFill>
                  <a:schemeClr val="dk1"/>
                </a:solidFill>
              </a:rPr>
              <a:t> Patient’s Vital Status</a:t>
            </a:r>
            <a:endParaRPr b="1" sz="1000">
              <a:solidFill>
                <a:schemeClr val="dk1"/>
              </a:solidFill>
            </a:endParaRPr>
          </a:p>
          <a:p>
            <a:pPr indent="-292100" lvl="0" marL="457200" rtl="0" algn="l">
              <a:lnSpc>
                <a:spcPct val="95000"/>
              </a:lnSpc>
              <a:spcBef>
                <a:spcPts val="1200"/>
              </a:spcBef>
              <a:spcAft>
                <a:spcPts val="0"/>
              </a:spcAft>
              <a:buSzPts val="1000"/>
              <a:buChar char="●"/>
            </a:pPr>
            <a:r>
              <a:rPr b="1" lang="en-GB" sz="1000">
                <a:solidFill>
                  <a:schemeClr val="dk1"/>
                </a:solidFill>
              </a:rPr>
              <a:t>0 → Living</a:t>
            </a:r>
            <a:br>
              <a:rPr b="1" lang="en-GB" sz="1000">
                <a:solidFill>
                  <a:schemeClr val="dk1"/>
                </a:solidFill>
              </a:rPr>
            </a:br>
            <a:endParaRPr b="1" sz="1000">
              <a:solidFill>
                <a:schemeClr val="dk1"/>
              </a:solidFill>
            </a:endParaRPr>
          </a:p>
          <a:p>
            <a:pPr indent="-292100" lvl="0" marL="457200" rtl="0" algn="l">
              <a:lnSpc>
                <a:spcPct val="95000"/>
              </a:lnSpc>
              <a:spcBef>
                <a:spcPts val="0"/>
              </a:spcBef>
              <a:spcAft>
                <a:spcPts val="0"/>
              </a:spcAft>
              <a:buSzPts val="1000"/>
              <a:buChar char="●"/>
            </a:pPr>
            <a:r>
              <a:rPr b="1" lang="en-GB" sz="1000">
                <a:solidFill>
                  <a:schemeClr val="dk1"/>
                </a:solidFill>
              </a:rPr>
              <a:t>1 → Dead of Disease</a:t>
            </a:r>
            <a:br>
              <a:rPr b="1" lang="en-GB" sz="1000">
                <a:solidFill>
                  <a:schemeClr val="dk1"/>
                </a:solidFill>
              </a:rPr>
            </a:br>
            <a:endParaRPr b="1" sz="1000">
              <a:solidFill>
                <a:schemeClr val="dk1"/>
              </a:solidFill>
            </a:endParaRPr>
          </a:p>
          <a:p>
            <a:pPr indent="0" lvl="0" marL="0" rtl="0" algn="l">
              <a:lnSpc>
                <a:spcPct val="95000"/>
              </a:lnSpc>
              <a:spcBef>
                <a:spcPts val="1200"/>
              </a:spcBef>
              <a:spcAft>
                <a:spcPts val="0"/>
              </a:spcAft>
              <a:buNone/>
            </a:pPr>
            <a:r>
              <a:rPr b="1" lang="en-GB" sz="1000">
                <a:solidFill>
                  <a:schemeClr val="dk1"/>
                </a:solidFill>
              </a:rPr>
              <a:t>Type of Data:</a:t>
            </a:r>
            <a:br>
              <a:rPr b="1" lang="en-GB" sz="1000">
                <a:solidFill>
                  <a:schemeClr val="dk1"/>
                </a:solidFill>
              </a:rPr>
            </a:br>
            <a:r>
              <a:rPr b="1" lang="en-GB" sz="1000">
                <a:solidFill>
                  <a:schemeClr val="dk1"/>
                </a:solidFill>
              </a:rPr>
              <a:t> Structured, numerical and categorical data</a:t>
            </a:r>
            <a:endParaRPr b="1" sz="1000">
              <a:solidFill>
                <a:schemeClr val="dk1"/>
              </a:solidFill>
            </a:endParaRPr>
          </a:p>
          <a:p>
            <a:pPr indent="0" lvl="0" marL="0" rtl="0" algn="l">
              <a:lnSpc>
                <a:spcPct val="95000"/>
              </a:lnSpc>
              <a:spcBef>
                <a:spcPts val="1200"/>
              </a:spcBef>
              <a:spcAft>
                <a:spcPts val="0"/>
              </a:spcAft>
              <a:buNone/>
            </a:pPr>
            <a:r>
              <a:rPr b="1" lang="en-GB" sz="1000">
                <a:solidFill>
                  <a:schemeClr val="dk1"/>
                </a:solidFill>
              </a:rPr>
              <a:t>Problem Type:</a:t>
            </a:r>
            <a:br>
              <a:rPr b="1" lang="en-GB" sz="1000">
                <a:solidFill>
                  <a:schemeClr val="dk1"/>
                </a:solidFill>
              </a:rPr>
            </a:br>
            <a:r>
              <a:rPr b="1" lang="en-GB" sz="1000">
                <a:solidFill>
                  <a:schemeClr val="dk1"/>
                </a:solidFill>
              </a:rPr>
              <a:t> Binary Classification Problem</a:t>
            </a:r>
            <a:endParaRPr b="1" sz="1000">
              <a:solidFill>
                <a:schemeClr val="dk1"/>
              </a:solidFill>
            </a:endParaRPr>
          </a:p>
          <a:p>
            <a:pPr indent="0" lvl="0" marL="0" rtl="0" algn="l">
              <a:lnSpc>
                <a:spcPct val="95000"/>
              </a:lnSpc>
              <a:spcBef>
                <a:spcPts val="1200"/>
              </a:spcBef>
              <a:spcAft>
                <a:spcPts val="0"/>
              </a:spcAft>
              <a:buNone/>
            </a:pPr>
            <a:r>
              <a:rPr b="1" lang="en-GB" sz="1000">
                <a:solidFill>
                  <a:schemeClr val="dk1"/>
                </a:solidFill>
              </a:rPr>
              <a:t>Purpose of Dataset:</a:t>
            </a:r>
            <a:br>
              <a:rPr b="1" lang="en-GB" sz="1000">
                <a:solidFill>
                  <a:schemeClr val="dk1"/>
                </a:solidFill>
              </a:rPr>
            </a:br>
            <a:r>
              <a:rPr b="1" lang="en-GB" sz="1000">
                <a:solidFill>
                  <a:schemeClr val="dk1"/>
                </a:solidFill>
              </a:rPr>
              <a:t> To analyze patient clinical information and predict breast cancer patient survival outcome.</a:t>
            </a:r>
            <a:endParaRPr b="1" sz="1300">
              <a:solidFill>
                <a:schemeClr val="dk1"/>
              </a:solidFill>
            </a:endParaRPr>
          </a:p>
          <a:p>
            <a:pPr indent="0" lvl="0" marL="0" rtl="0" algn="l">
              <a:lnSpc>
                <a:spcPct val="95000"/>
              </a:lnSpc>
              <a:spcBef>
                <a:spcPts val="0"/>
              </a:spcBef>
              <a:spcAft>
                <a:spcPts val="0"/>
              </a:spcAft>
              <a:buClr>
                <a:schemeClr val="dk1"/>
              </a:buClr>
              <a:buSzPts val="1946"/>
              <a:buFont typeface="Arial"/>
              <a:buNone/>
            </a:pPr>
            <a:r>
              <a:t/>
            </a:r>
            <a:endParaRPr b="1" sz="2600">
              <a:solidFill>
                <a:schemeClr val="dk1"/>
              </a:solidFill>
              <a:latin typeface="Calibri"/>
              <a:ea typeface="Calibri"/>
              <a:cs typeface="Calibri"/>
              <a:sym typeface="Calibri"/>
            </a:endParaRPr>
          </a:p>
          <a:p>
            <a:pPr indent="0" lvl="0" marL="0" rtl="0" algn="l">
              <a:lnSpc>
                <a:spcPct val="95000"/>
              </a:lnSpc>
              <a:spcBef>
                <a:spcPts val="0"/>
              </a:spcBef>
              <a:spcAft>
                <a:spcPts val="0"/>
              </a:spcAft>
              <a:buSzPts val="1946"/>
              <a:buNone/>
            </a:pPr>
            <a:r>
              <a:t/>
            </a:r>
            <a:endParaRPr b="1">
              <a:solidFill>
                <a:schemeClr val="dk1"/>
              </a:solidFill>
            </a:endParaRPr>
          </a:p>
        </p:txBody>
      </p:sp>
      <p:pic>
        <p:nvPicPr>
          <p:cNvPr id="109" name="Google Shape;109;p20"/>
          <p:cNvPicPr preferRelativeResize="0"/>
          <p:nvPr/>
        </p:nvPicPr>
        <p:blipFill rotWithShape="1">
          <a:blip r:embed="rId4">
            <a:alphaModFix/>
          </a:blip>
          <a:srcRect b="0" l="0" r="0" t="0"/>
          <a:stretch/>
        </p:blipFill>
        <p:spPr>
          <a:xfrm>
            <a:off x="8299466" y="4690671"/>
            <a:ext cx="611424" cy="16151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pic>
        <p:nvPicPr>
          <p:cNvPr descr="A close up of a device&#10;&#10;Description automatically generated" id="114" name="Google Shape;114;p21"/>
          <p:cNvPicPr preferRelativeResize="0"/>
          <p:nvPr/>
        </p:nvPicPr>
        <p:blipFill rotWithShape="1">
          <a:blip r:embed="rId3">
            <a:alphaModFix/>
          </a:blip>
          <a:srcRect b="0" l="0" r="0" t="0"/>
          <a:stretch/>
        </p:blipFill>
        <p:spPr>
          <a:xfrm>
            <a:off x="0" y="-398050"/>
            <a:ext cx="9144001" cy="5541550"/>
          </a:xfrm>
          <a:prstGeom prst="rect">
            <a:avLst/>
          </a:prstGeom>
          <a:noFill/>
          <a:ln>
            <a:noFill/>
          </a:ln>
        </p:spPr>
      </p:pic>
      <p:sp>
        <p:nvSpPr>
          <p:cNvPr id="115" name="Google Shape;115;p21"/>
          <p:cNvSpPr txBox="1"/>
          <p:nvPr>
            <p:ph type="title"/>
          </p:nvPr>
        </p:nvSpPr>
        <p:spPr>
          <a:xfrm>
            <a:off x="172900" y="-305750"/>
            <a:ext cx="3996600" cy="576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15789"/>
              <a:buFont typeface="Calibri"/>
              <a:buNone/>
            </a:pPr>
            <a:r>
              <a:rPr b="1" lang="en-GB" sz="3800">
                <a:solidFill>
                  <a:schemeClr val="dk1"/>
                </a:solidFill>
              </a:rPr>
              <a:t>Dataset Overview</a:t>
            </a:r>
            <a:endParaRPr b="1" sz="3800"/>
          </a:p>
        </p:txBody>
      </p:sp>
      <p:sp>
        <p:nvSpPr>
          <p:cNvPr id="116" name="Google Shape;116;p21"/>
          <p:cNvSpPr txBox="1"/>
          <p:nvPr>
            <p:ph idx="1" type="body"/>
          </p:nvPr>
        </p:nvSpPr>
        <p:spPr>
          <a:xfrm>
            <a:off x="-170600" y="369650"/>
            <a:ext cx="9207000" cy="4773900"/>
          </a:xfrm>
          <a:prstGeom prst="rect">
            <a:avLst/>
          </a:prstGeom>
          <a:noFill/>
          <a:ln>
            <a:noFill/>
          </a:ln>
        </p:spPr>
        <p:txBody>
          <a:bodyPr anchorCtr="0" anchor="t" bIns="45700" lIns="91425" spcFirstLastPara="1" rIns="91425" wrap="square" tIns="45700">
            <a:noAutofit/>
          </a:bodyPr>
          <a:lstStyle/>
          <a:p>
            <a:pPr indent="-293370" lvl="0" marL="457200" rtl="0" algn="l">
              <a:lnSpc>
                <a:spcPct val="105000"/>
              </a:lnSpc>
              <a:spcBef>
                <a:spcPts val="1200"/>
              </a:spcBef>
              <a:spcAft>
                <a:spcPts val="0"/>
              </a:spcAft>
              <a:buSzPts val="1020"/>
              <a:buChar char="●"/>
            </a:pPr>
            <a:r>
              <a:rPr b="1" i="1" lang="en-GB" sz="1702">
                <a:solidFill>
                  <a:schemeClr val="dk1"/>
                </a:solidFill>
                <a:latin typeface="Calibri"/>
                <a:ea typeface="Calibri"/>
                <a:cs typeface="Calibri"/>
                <a:sym typeface="Calibri"/>
              </a:rPr>
              <a:t>Performed exploratory data analysis to understand the dataset</a:t>
            </a:r>
            <a:br>
              <a:rPr b="1" i="1" lang="en-GB" sz="1702">
                <a:solidFill>
                  <a:schemeClr val="dk1"/>
                </a:solidFill>
                <a:latin typeface="Calibri"/>
                <a:ea typeface="Calibri"/>
                <a:cs typeface="Calibri"/>
                <a:sym typeface="Calibri"/>
              </a:rPr>
            </a:br>
            <a:endParaRPr b="1" i="1" sz="1702">
              <a:solidFill>
                <a:schemeClr val="dk1"/>
              </a:solidFill>
              <a:latin typeface="Calibri"/>
              <a:ea typeface="Calibri"/>
              <a:cs typeface="Calibri"/>
              <a:sym typeface="Calibri"/>
            </a:endParaRPr>
          </a:p>
          <a:p>
            <a:pPr indent="-293370" lvl="0" marL="457200" rtl="0" algn="l">
              <a:lnSpc>
                <a:spcPct val="105000"/>
              </a:lnSpc>
              <a:spcBef>
                <a:spcPts val="0"/>
              </a:spcBef>
              <a:spcAft>
                <a:spcPts val="0"/>
              </a:spcAft>
              <a:buSzPts val="1020"/>
              <a:buChar char="●"/>
            </a:pPr>
            <a:r>
              <a:rPr b="1" i="1" lang="en-GB" sz="1702">
                <a:solidFill>
                  <a:schemeClr val="dk1"/>
                </a:solidFill>
                <a:latin typeface="Calibri"/>
                <a:ea typeface="Calibri"/>
                <a:cs typeface="Calibri"/>
                <a:sym typeface="Calibri"/>
              </a:rPr>
              <a:t>Univariate analysis performed using bar charts and count plots</a:t>
            </a:r>
            <a:endParaRPr b="1" i="1" sz="1702">
              <a:solidFill>
                <a:schemeClr val="dk1"/>
              </a:solidFill>
              <a:latin typeface="Calibri"/>
              <a:ea typeface="Calibri"/>
              <a:cs typeface="Calibri"/>
              <a:sym typeface="Calibri"/>
            </a:endParaRPr>
          </a:p>
          <a:p>
            <a:pPr indent="-336741" lvl="0" marL="457200" rtl="0" algn="l">
              <a:lnSpc>
                <a:spcPct val="105000"/>
              </a:lnSpc>
              <a:spcBef>
                <a:spcPts val="0"/>
              </a:spcBef>
              <a:spcAft>
                <a:spcPts val="0"/>
              </a:spcAft>
              <a:buSzPts val="1703"/>
              <a:buChar char="●"/>
            </a:pPr>
            <a:r>
              <a:t/>
            </a:r>
            <a:endParaRPr b="1" i="1" sz="1702">
              <a:solidFill>
                <a:schemeClr val="dk1"/>
              </a:solidFill>
              <a:latin typeface="Calibri"/>
              <a:ea typeface="Calibri"/>
              <a:cs typeface="Calibri"/>
              <a:sym typeface="Calibri"/>
            </a:endParaRPr>
          </a:p>
          <a:p>
            <a:pPr indent="-251333" lvl="0" marL="457200" rtl="0" algn="l">
              <a:lnSpc>
                <a:spcPct val="105000"/>
              </a:lnSpc>
              <a:spcBef>
                <a:spcPts val="0"/>
              </a:spcBef>
              <a:spcAft>
                <a:spcPts val="0"/>
              </a:spcAft>
              <a:buSzPts val="358"/>
              <a:buChar char="●"/>
            </a:pPr>
            <a:r>
              <a:rPr b="1" i="1" lang="en-GB" sz="1702">
                <a:solidFill>
                  <a:schemeClr val="dk1"/>
                </a:solidFill>
                <a:latin typeface="Calibri"/>
                <a:ea typeface="Calibri"/>
                <a:cs typeface="Calibri"/>
                <a:sym typeface="Calibri"/>
              </a:rPr>
              <a:t>Handled null values :</a:t>
            </a:r>
            <a:r>
              <a:rPr b="1" i="1" lang="en-GB" sz="2181">
                <a:solidFill>
                  <a:schemeClr val="dk1"/>
                </a:solidFill>
                <a:latin typeface="Calibri"/>
                <a:ea typeface="Calibri"/>
                <a:cs typeface="Calibri"/>
                <a:sym typeface="Calibri"/>
              </a:rPr>
              <a:t> </a:t>
            </a:r>
            <a:r>
              <a:rPr b="1" i="1" lang="en-GB" sz="1498">
                <a:solidFill>
                  <a:schemeClr val="dk1"/>
                </a:solidFill>
              </a:rPr>
              <a:t>Missing numerical values were filled using median /</a:t>
            </a:r>
            <a:r>
              <a:rPr b="1" i="1" lang="en-GB" sz="1973">
                <a:solidFill>
                  <a:schemeClr val="dk1"/>
                </a:solidFill>
              </a:rPr>
              <a:t> </a:t>
            </a:r>
            <a:r>
              <a:rPr b="1" i="1" lang="en-GB" sz="1494">
                <a:solidFill>
                  <a:schemeClr val="dk1"/>
                </a:solidFill>
              </a:rPr>
              <a:t>Missing categorical values were filled using mode</a:t>
            </a:r>
            <a:endParaRPr b="1" i="1" sz="2110">
              <a:solidFill>
                <a:schemeClr val="dk1"/>
              </a:solidFill>
              <a:latin typeface="Calibri"/>
              <a:ea typeface="Calibri"/>
              <a:cs typeface="Calibri"/>
              <a:sym typeface="Calibri"/>
            </a:endParaRPr>
          </a:p>
          <a:p>
            <a:pPr indent="-353949" lvl="0" marL="457200" rtl="0" algn="l">
              <a:lnSpc>
                <a:spcPct val="105000"/>
              </a:lnSpc>
              <a:spcBef>
                <a:spcPts val="0"/>
              </a:spcBef>
              <a:spcAft>
                <a:spcPts val="0"/>
              </a:spcAft>
              <a:buSzPts val="1974"/>
              <a:buChar char="●"/>
            </a:pPr>
            <a:r>
              <a:t/>
            </a:r>
            <a:endParaRPr b="1" i="1" sz="2656">
              <a:solidFill>
                <a:schemeClr val="dk1"/>
              </a:solidFill>
              <a:latin typeface="Calibri"/>
              <a:ea typeface="Calibri"/>
              <a:cs typeface="Calibri"/>
              <a:sym typeface="Calibri"/>
            </a:endParaRPr>
          </a:p>
          <a:p>
            <a:pPr indent="-293370" lvl="0" marL="457200" rtl="0" algn="l">
              <a:lnSpc>
                <a:spcPct val="105000"/>
              </a:lnSpc>
              <a:spcBef>
                <a:spcPts val="0"/>
              </a:spcBef>
              <a:spcAft>
                <a:spcPts val="0"/>
              </a:spcAft>
              <a:buSzPts val="1020"/>
              <a:buChar char="●"/>
            </a:pPr>
            <a:r>
              <a:rPr b="1" i="1" lang="en-GB" sz="1702">
                <a:solidFill>
                  <a:schemeClr val="dk1"/>
                </a:solidFill>
                <a:latin typeface="Calibri"/>
                <a:ea typeface="Calibri"/>
                <a:cs typeface="Calibri"/>
                <a:sym typeface="Calibri"/>
              </a:rPr>
              <a:t>Exploratory Data Analysis (EDA)</a:t>
            </a:r>
            <a:br>
              <a:rPr b="1" i="1" lang="en-GB" sz="1702">
                <a:solidFill>
                  <a:schemeClr val="dk1"/>
                </a:solidFill>
                <a:latin typeface="Calibri"/>
                <a:ea typeface="Calibri"/>
                <a:cs typeface="Calibri"/>
                <a:sym typeface="Calibri"/>
              </a:rPr>
            </a:br>
            <a:endParaRPr b="1" i="1" sz="1702">
              <a:solidFill>
                <a:schemeClr val="dk1"/>
              </a:solidFill>
              <a:latin typeface="Calibri"/>
              <a:ea typeface="Calibri"/>
              <a:cs typeface="Calibri"/>
              <a:sym typeface="Calibri"/>
            </a:endParaRPr>
          </a:p>
          <a:p>
            <a:pPr indent="-293370" lvl="0" marL="457200" rtl="0" algn="l">
              <a:lnSpc>
                <a:spcPct val="105000"/>
              </a:lnSpc>
              <a:spcBef>
                <a:spcPts val="0"/>
              </a:spcBef>
              <a:spcAft>
                <a:spcPts val="0"/>
              </a:spcAft>
              <a:buSzPts val="1020"/>
              <a:buChar char="●"/>
            </a:pPr>
            <a:r>
              <a:rPr b="1" i="1" lang="en-GB" sz="1702">
                <a:solidFill>
                  <a:schemeClr val="dk1"/>
                </a:solidFill>
                <a:latin typeface="Calibri"/>
                <a:ea typeface="Calibri"/>
                <a:cs typeface="Calibri"/>
                <a:sym typeface="Calibri"/>
              </a:rPr>
              <a:t>Encoded target variable</a:t>
            </a:r>
            <a:br>
              <a:rPr b="1" i="1" lang="en-GB" sz="1702">
                <a:solidFill>
                  <a:schemeClr val="dk1"/>
                </a:solidFill>
                <a:latin typeface="Calibri"/>
                <a:ea typeface="Calibri"/>
                <a:cs typeface="Calibri"/>
                <a:sym typeface="Calibri"/>
              </a:rPr>
            </a:br>
            <a:endParaRPr b="1" i="1" sz="1702">
              <a:solidFill>
                <a:schemeClr val="dk1"/>
              </a:solidFill>
              <a:latin typeface="Calibri"/>
              <a:ea typeface="Calibri"/>
              <a:cs typeface="Calibri"/>
              <a:sym typeface="Calibri"/>
            </a:endParaRPr>
          </a:p>
          <a:p>
            <a:pPr indent="-293370" lvl="0" marL="457200" rtl="0" algn="l">
              <a:lnSpc>
                <a:spcPct val="105000"/>
              </a:lnSpc>
              <a:spcBef>
                <a:spcPts val="0"/>
              </a:spcBef>
              <a:spcAft>
                <a:spcPts val="0"/>
              </a:spcAft>
              <a:buSzPts val="1020"/>
              <a:buChar char="●"/>
            </a:pPr>
            <a:r>
              <a:rPr b="1" i="1" lang="en-GB" sz="1702">
                <a:solidFill>
                  <a:schemeClr val="dk1"/>
                </a:solidFill>
                <a:latin typeface="Calibri"/>
                <a:ea typeface="Calibri"/>
                <a:cs typeface="Calibri"/>
                <a:sym typeface="Calibri"/>
              </a:rPr>
              <a:t>Removed irrelevant columns</a:t>
            </a:r>
            <a:br>
              <a:rPr b="1" i="1" lang="en-GB" sz="1702">
                <a:solidFill>
                  <a:schemeClr val="dk1"/>
                </a:solidFill>
                <a:latin typeface="Calibri"/>
                <a:ea typeface="Calibri"/>
                <a:cs typeface="Calibri"/>
                <a:sym typeface="Calibri"/>
              </a:rPr>
            </a:br>
            <a:endParaRPr b="1" i="1" sz="1702">
              <a:solidFill>
                <a:schemeClr val="dk1"/>
              </a:solidFill>
              <a:latin typeface="Calibri"/>
              <a:ea typeface="Calibri"/>
              <a:cs typeface="Calibri"/>
              <a:sym typeface="Calibri"/>
            </a:endParaRPr>
          </a:p>
          <a:p>
            <a:pPr indent="-293370" lvl="0" marL="457200" rtl="0" algn="l">
              <a:lnSpc>
                <a:spcPct val="105000"/>
              </a:lnSpc>
              <a:spcBef>
                <a:spcPts val="0"/>
              </a:spcBef>
              <a:spcAft>
                <a:spcPts val="0"/>
              </a:spcAft>
              <a:buSzPts val="1020"/>
              <a:buChar char="●"/>
            </a:pPr>
            <a:r>
              <a:rPr b="1" i="1" lang="en-GB" sz="1702">
                <a:solidFill>
                  <a:schemeClr val="dk1"/>
                </a:solidFill>
                <a:latin typeface="Calibri"/>
                <a:ea typeface="Calibri"/>
                <a:cs typeface="Calibri"/>
                <a:sym typeface="Calibri"/>
              </a:rPr>
              <a:t>Applied train-test split</a:t>
            </a:r>
            <a:br>
              <a:rPr b="1" i="1" lang="en-GB" sz="1702">
                <a:solidFill>
                  <a:schemeClr val="dk1"/>
                </a:solidFill>
                <a:latin typeface="Calibri"/>
                <a:ea typeface="Calibri"/>
                <a:cs typeface="Calibri"/>
                <a:sym typeface="Calibri"/>
              </a:rPr>
            </a:br>
            <a:endParaRPr b="1" i="1" sz="1702">
              <a:solidFill>
                <a:schemeClr val="dk1"/>
              </a:solidFill>
              <a:latin typeface="Calibri"/>
              <a:ea typeface="Calibri"/>
              <a:cs typeface="Calibri"/>
              <a:sym typeface="Calibri"/>
            </a:endParaRPr>
          </a:p>
          <a:p>
            <a:pPr indent="-293370" lvl="0" marL="457200" rtl="0" algn="l">
              <a:lnSpc>
                <a:spcPct val="105000"/>
              </a:lnSpc>
              <a:spcBef>
                <a:spcPts val="0"/>
              </a:spcBef>
              <a:spcAft>
                <a:spcPts val="0"/>
              </a:spcAft>
              <a:buSzPts val="1020"/>
              <a:buChar char="●"/>
            </a:pPr>
            <a:r>
              <a:rPr b="1" i="1" lang="en-GB" sz="1702">
                <a:solidFill>
                  <a:schemeClr val="dk1"/>
                </a:solidFill>
                <a:latin typeface="Calibri"/>
                <a:ea typeface="Calibri"/>
                <a:cs typeface="Calibri"/>
                <a:sym typeface="Calibri"/>
              </a:rPr>
              <a:t>Final dataset ready for model training</a:t>
            </a:r>
            <a:endParaRPr b="1" i="1" sz="1702">
              <a:solidFill>
                <a:schemeClr val="dk1"/>
              </a:solidFill>
              <a:latin typeface="Calibri"/>
              <a:ea typeface="Calibri"/>
              <a:cs typeface="Calibri"/>
              <a:sym typeface="Calibri"/>
            </a:endParaRPr>
          </a:p>
          <a:p>
            <a:pPr indent="-293370" lvl="0" marL="457200" rtl="0" algn="l">
              <a:lnSpc>
                <a:spcPct val="105000"/>
              </a:lnSpc>
              <a:spcBef>
                <a:spcPts val="0"/>
              </a:spcBef>
              <a:spcAft>
                <a:spcPts val="0"/>
              </a:spcAft>
              <a:buSzPts val="1020"/>
              <a:buChar char="●"/>
            </a:pPr>
            <a:r>
              <a:t/>
            </a:r>
            <a:endParaRPr b="1" i="1" sz="1702">
              <a:solidFill>
                <a:schemeClr val="dk1"/>
              </a:solidFill>
              <a:latin typeface="Calibri"/>
              <a:ea typeface="Calibri"/>
              <a:cs typeface="Calibri"/>
              <a:sym typeface="Calibri"/>
            </a:endParaRPr>
          </a:p>
          <a:p>
            <a:pPr indent="-293370" lvl="0" marL="457200" rtl="0" algn="l">
              <a:lnSpc>
                <a:spcPct val="105000"/>
              </a:lnSpc>
              <a:spcBef>
                <a:spcPts val="0"/>
              </a:spcBef>
              <a:spcAft>
                <a:spcPts val="0"/>
              </a:spcAft>
              <a:buSzPts val="1020"/>
              <a:buChar char="●"/>
            </a:pPr>
            <a:br>
              <a:rPr b="1" i="1" lang="en-GB" sz="1702">
                <a:solidFill>
                  <a:schemeClr val="dk1"/>
                </a:solidFill>
                <a:latin typeface="Calibri"/>
                <a:ea typeface="Calibri"/>
                <a:cs typeface="Calibri"/>
                <a:sym typeface="Calibri"/>
              </a:rPr>
            </a:br>
            <a:endParaRPr b="1" i="1" sz="1702">
              <a:solidFill>
                <a:schemeClr val="dk1"/>
              </a:solidFill>
              <a:latin typeface="Calibri"/>
              <a:ea typeface="Calibri"/>
              <a:cs typeface="Calibri"/>
              <a:sym typeface="Calibri"/>
            </a:endParaRPr>
          </a:p>
          <a:p>
            <a:pPr indent="0" lvl="0" marL="457200" rtl="0" algn="l">
              <a:lnSpc>
                <a:spcPct val="90000"/>
              </a:lnSpc>
              <a:spcBef>
                <a:spcPts val="640"/>
              </a:spcBef>
              <a:spcAft>
                <a:spcPts val="0"/>
              </a:spcAft>
              <a:buNone/>
            </a:pPr>
            <a:r>
              <a:t/>
            </a:r>
            <a:endParaRPr b="1" sz="1700">
              <a:solidFill>
                <a:schemeClr val="dk1"/>
              </a:solidFill>
            </a:endParaRPr>
          </a:p>
          <a:p>
            <a:pPr indent="0" lvl="0" marL="0" rtl="0" algn="l">
              <a:lnSpc>
                <a:spcPct val="95000"/>
              </a:lnSpc>
              <a:spcBef>
                <a:spcPts val="0"/>
              </a:spcBef>
              <a:spcAft>
                <a:spcPts val="0"/>
              </a:spcAft>
              <a:buClr>
                <a:schemeClr val="dk1"/>
              </a:buClr>
              <a:buSzPts val="1946"/>
              <a:buFont typeface="Arial"/>
              <a:buNone/>
            </a:pPr>
            <a:r>
              <a:t/>
            </a:r>
            <a:endParaRPr b="1" sz="2500">
              <a:solidFill>
                <a:schemeClr val="dk1"/>
              </a:solidFill>
              <a:latin typeface="Calibri"/>
              <a:ea typeface="Calibri"/>
              <a:cs typeface="Calibri"/>
              <a:sym typeface="Calibri"/>
            </a:endParaRPr>
          </a:p>
          <a:p>
            <a:pPr indent="0" lvl="0" marL="0" rtl="0" algn="l">
              <a:lnSpc>
                <a:spcPct val="95000"/>
              </a:lnSpc>
              <a:spcBef>
                <a:spcPts val="0"/>
              </a:spcBef>
              <a:spcAft>
                <a:spcPts val="0"/>
              </a:spcAft>
              <a:buSzPts val="1946"/>
              <a:buNone/>
            </a:pPr>
            <a:r>
              <a:t/>
            </a:r>
            <a:endParaRPr b="1" sz="1700">
              <a:solidFill>
                <a:schemeClr val="dk1"/>
              </a:solidFill>
            </a:endParaRPr>
          </a:p>
        </p:txBody>
      </p:sp>
      <p:pic>
        <p:nvPicPr>
          <p:cNvPr id="117" name="Google Shape;117;p21"/>
          <p:cNvPicPr preferRelativeResize="0"/>
          <p:nvPr/>
        </p:nvPicPr>
        <p:blipFill rotWithShape="1">
          <a:blip r:embed="rId4">
            <a:alphaModFix/>
          </a:blip>
          <a:srcRect b="0" l="0" r="0" t="0"/>
          <a:stretch/>
        </p:blipFill>
        <p:spPr>
          <a:xfrm>
            <a:off x="8299466" y="4690671"/>
            <a:ext cx="611424" cy="16151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2"/>
          <p:cNvSpPr txBox="1"/>
          <p:nvPr>
            <p:ph type="title"/>
          </p:nvPr>
        </p:nvSpPr>
        <p:spPr>
          <a:xfrm>
            <a:off x="386525" y="145172"/>
            <a:ext cx="8229600" cy="857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b="1" i="1" lang="en-GB" sz="2100">
                <a:solidFill>
                  <a:srgbClr val="1F1F1F"/>
                </a:solidFill>
                <a:highlight>
                  <a:srgbClr val="FFFFFF"/>
                </a:highlight>
                <a:latin typeface="Arial"/>
                <a:ea typeface="Arial"/>
                <a:cs typeface="Arial"/>
                <a:sym typeface="Arial"/>
              </a:rPr>
              <a:t>PIE CHART Patient’s Vital Status (Target Variable)</a:t>
            </a:r>
            <a:endParaRPr b="1" i="1" sz="5300"/>
          </a:p>
        </p:txBody>
      </p:sp>
      <p:sp>
        <p:nvSpPr>
          <p:cNvPr id="123" name="Google Shape;123;p22"/>
          <p:cNvSpPr txBox="1"/>
          <p:nvPr>
            <p:ph idx="1" type="body"/>
          </p:nvPr>
        </p:nvSpPr>
        <p:spPr>
          <a:xfrm>
            <a:off x="457200" y="900113"/>
            <a:ext cx="8229600" cy="2545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0"/>
              </a:spcAft>
              <a:buSzPts val="1800"/>
              <a:buNone/>
            </a:pPr>
            <a:r>
              <a:t/>
            </a:r>
            <a:endParaRPr/>
          </a:p>
        </p:txBody>
      </p:sp>
      <p:pic>
        <p:nvPicPr>
          <p:cNvPr id="124" name="Google Shape;124;p22" title="pie chart.png"/>
          <p:cNvPicPr preferRelativeResize="0"/>
          <p:nvPr/>
        </p:nvPicPr>
        <p:blipFill rotWithShape="1">
          <a:blip r:embed="rId3">
            <a:alphaModFix/>
          </a:blip>
          <a:srcRect b="0" l="0" r="0" t="0"/>
          <a:stretch/>
        </p:blipFill>
        <p:spPr>
          <a:xfrm rot="-5400000">
            <a:off x="2480775" y="-1570908"/>
            <a:ext cx="4321775" cy="89989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130" name="Google Shape;130;p2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131" name="Google Shape;131;p23"/>
          <p:cNvPicPr preferRelativeResize="0"/>
          <p:nvPr/>
        </p:nvPicPr>
        <p:blipFill>
          <a:blip r:embed="rId3">
            <a:alphaModFix/>
          </a:blip>
          <a:stretch>
            <a:fillRect/>
          </a:stretch>
        </p:blipFill>
        <p:spPr>
          <a:xfrm>
            <a:off x="184825" y="-99525"/>
            <a:ext cx="8899476" cy="52430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descr="A close up of a device&#10;&#10;Description automatically generated" id="136" name="Google Shape;136;p24"/>
          <p:cNvPicPr preferRelativeResize="0"/>
          <p:nvPr/>
        </p:nvPicPr>
        <p:blipFill rotWithShape="1">
          <a:blip r:embed="rId3">
            <a:alphaModFix/>
          </a:blip>
          <a:srcRect b="0" l="0" r="0" t="0"/>
          <a:stretch/>
        </p:blipFill>
        <p:spPr>
          <a:xfrm>
            <a:off x="0" y="0"/>
            <a:ext cx="9143999" cy="5143499"/>
          </a:xfrm>
          <a:prstGeom prst="rect">
            <a:avLst/>
          </a:prstGeom>
          <a:noFill/>
          <a:ln>
            <a:noFill/>
          </a:ln>
        </p:spPr>
      </p:pic>
      <p:sp>
        <p:nvSpPr>
          <p:cNvPr id="137" name="Google Shape;137;p24"/>
          <p:cNvSpPr txBox="1"/>
          <p:nvPr>
            <p:ph type="title"/>
          </p:nvPr>
        </p:nvSpPr>
        <p:spPr>
          <a:xfrm>
            <a:off x="349550" y="121475"/>
            <a:ext cx="4905600" cy="492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chemeClr val="dk1"/>
              </a:buClr>
              <a:buSzPct val="115789"/>
              <a:buFont typeface="Calibri"/>
              <a:buNone/>
            </a:pPr>
            <a:r>
              <a:rPr b="1" lang="en-GB" sz="3800">
                <a:solidFill>
                  <a:schemeClr val="dk1"/>
                </a:solidFill>
              </a:rPr>
              <a:t>neering</a:t>
            </a:r>
            <a:endParaRPr b="1" sz="3800"/>
          </a:p>
        </p:txBody>
      </p:sp>
      <p:sp>
        <p:nvSpPr>
          <p:cNvPr id="138" name="Google Shape;138;p24"/>
          <p:cNvSpPr txBox="1"/>
          <p:nvPr>
            <p:ph idx="1" type="body"/>
          </p:nvPr>
        </p:nvSpPr>
        <p:spPr>
          <a:xfrm>
            <a:off x="0" y="270000"/>
            <a:ext cx="9144000" cy="48735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1400"/>
              </a:spcBef>
              <a:spcAft>
                <a:spcPts val="0"/>
              </a:spcAft>
              <a:buNone/>
            </a:pPr>
            <a:r>
              <a:rPr b="1" lang="en-GB" sz="1700">
                <a:solidFill>
                  <a:schemeClr val="dk1"/>
                </a:solidFill>
              </a:rPr>
              <a:t>Features Used</a:t>
            </a:r>
            <a:endParaRPr b="1" sz="1700">
              <a:solidFill>
                <a:schemeClr val="dk1"/>
              </a:solidFill>
            </a:endParaRPr>
          </a:p>
          <a:p>
            <a:pPr indent="-323850" lvl="0" marL="457200" rtl="0" algn="l">
              <a:lnSpc>
                <a:spcPct val="115000"/>
              </a:lnSpc>
              <a:spcBef>
                <a:spcPts val="1200"/>
              </a:spcBef>
              <a:spcAft>
                <a:spcPts val="0"/>
              </a:spcAft>
              <a:buSzPts val="1500"/>
              <a:buChar char="●"/>
            </a:pPr>
            <a:r>
              <a:rPr b="1" lang="en-GB" sz="1500">
                <a:solidFill>
                  <a:schemeClr val="dk1"/>
                </a:solidFill>
              </a:rPr>
              <a:t>Age at Diagnosis</a:t>
            </a:r>
            <a:endParaRPr b="1" sz="1500">
              <a:solidFill>
                <a:schemeClr val="dk1"/>
              </a:solidFill>
            </a:endParaRPr>
          </a:p>
          <a:p>
            <a:pPr indent="-323850" lvl="0" marL="457200" rtl="0" algn="l">
              <a:lnSpc>
                <a:spcPct val="115000"/>
              </a:lnSpc>
              <a:spcBef>
                <a:spcPts val="0"/>
              </a:spcBef>
              <a:spcAft>
                <a:spcPts val="0"/>
              </a:spcAft>
              <a:buSzPts val="1500"/>
              <a:buChar char="●"/>
            </a:pPr>
            <a:r>
              <a:rPr b="1" lang="en-GB" sz="1500">
                <a:solidFill>
                  <a:schemeClr val="dk1"/>
                </a:solidFill>
              </a:rPr>
              <a:t>Tumor Size</a:t>
            </a:r>
            <a:endParaRPr b="1" sz="1500">
              <a:solidFill>
                <a:schemeClr val="dk1"/>
              </a:solidFill>
            </a:endParaRPr>
          </a:p>
          <a:p>
            <a:pPr indent="-323850" lvl="0" marL="457200" rtl="0" algn="l">
              <a:lnSpc>
                <a:spcPct val="115000"/>
              </a:lnSpc>
              <a:spcBef>
                <a:spcPts val="0"/>
              </a:spcBef>
              <a:spcAft>
                <a:spcPts val="0"/>
              </a:spcAft>
              <a:buSzPts val="1500"/>
              <a:buChar char="●"/>
            </a:pPr>
            <a:r>
              <a:rPr b="1" lang="en-GB" sz="1500">
                <a:solidFill>
                  <a:schemeClr val="dk1"/>
                </a:solidFill>
              </a:rPr>
              <a:t>Tumor Stage</a:t>
            </a:r>
            <a:endParaRPr b="1" sz="1500">
              <a:solidFill>
                <a:schemeClr val="dk1"/>
              </a:solidFill>
            </a:endParaRPr>
          </a:p>
          <a:p>
            <a:pPr indent="-323850" lvl="0" marL="457200" rtl="0" algn="l">
              <a:lnSpc>
                <a:spcPct val="115000"/>
              </a:lnSpc>
              <a:spcBef>
                <a:spcPts val="0"/>
              </a:spcBef>
              <a:spcAft>
                <a:spcPts val="0"/>
              </a:spcAft>
              <a:buSzPts val="1500"/>
              <a:buChar char="●"/>
            </a:pPr>
            <a:r>
              <a:rPr b="1" lang="en-GB" sz="1500">
                <a:solidFill>
                  <a:schemeClr val="dk1"/>
                </a:solidFill>
              </a:rPr>
              <a:t>Cellularity</a:t>
            </a:r>
            <a:endParaRPr b="1" sz="1500">
              <a:solidFill>
                <a:schemeClr val="dk1"/>
              </a:solidFill>
            </a:endParaRPr>
          </a:p>
          <a:p>
            <a:pPr indent="-323850" lvl="0" marL="457200" rtl="0" algn="l">
              <a:lnSpc>
                <a:spcPct val="115000"/>
              </a:lnSpc>
              <a:spcBef>
                <a:spcPts val="0"/>
              </a:spcBef>
              <a:spcAft>
                <a:spcPts val="0"/>
              </a:spcAft>
              <a:buSzPts val="1500"/>
              <a:buChar char="●"/>
            </a:pPr>
            <a:r>
              <a:rPr b="1" lang="en-GB" sz="1500">
                <a:solidFill>
                  <a:schemeClr val="dk1"/>
                </a:solidFill>
              </a:rPr>
              <a:t>Chemotherapy</a:t>
            </a:r>
            <a:endParaRPr b="1" sz="1500">
              <a:solidFill>
                <a:schemeClr val="dk1"/>
              </a:solidFill>
            </a:endParaRPr>
          </a:p>
          <a:p>
            <a:pPr indent="-323850" lvl="0" marL="457200" rtl="0" algn="l">
              <a:lnSpc>
                <a:spcPct val="115000"/>
              </a:lnSpc>
              <a:spcBef>
                <a:spcPts val="0"/>
              </a:spcBef>
              <a:spcAft>
                <a:spcPts val="0"/>
              </a:spcAft>
              <a:buSzPts val="1500"/>
              <a:buChar char="●"/>
            </a:pPr>
            <a:r>
              <a:rPr b="1" lang="en-GB" sz="1500">
                <a:solidFill>
                  <a:schemeClr val="dk1"/>
                </a:solidFill>
              </a:rPr>
              <a:t>Hormone Therapy</a:t>
            </a:r>
            <a:endParaRPr b="1" sz="1500">
              <a:solidFill>
                <a:schemeClr val="dk1"/>
              </a:solidFill>
            </a:endParaRPr>
          </a:p>
          <a:p>
            <a:pPr indent="-323850" lvl="0" marL="457200" rtl="0" algn="l">
              <a:lnSpc>
                <a:spcPct val="115000"/>
              </a:lnSpc>
              <a:spcBef>
                <a:spcPts val="0"/>
              </a:spcBef>
              <a:spcAft>
                <a:spcPts val="0"/>
              </a:spcAft>
              <a:buSzPts val="1500"/>
              <a:buChar char="●"/>
            </a:pPr>
            <a:r>
              <a:rPr b="1" lang="en-GB" sz="1500">
                <a:solidFill>
                  <a:schemeClr val="dk1"/>
                </a:solidFill>
              </a:rPr>
              <a:t>Radio Therapy</a:t>
            </a:r>
            <a:endParaRPr b="1" sz="1500">
              <a:solidFill>
                <a:schemeClr val="dk1"/>
              </a:solidFill>
            </a:endParaRPr>
          </a:p>
          <a:p>
            <a:pPr indent="-323850" lvl="0" marL="457200" rtl="0" algn="l">
              <a:lnSpc>
                <a:spcPct val="115000"/>
              </a:lnSpc>
              <a:spcBef>
                <a:spcPts val="0"/>
              </a:spcBef>
              <a:spcAft>
                <a:spcPts val="0"/>
              </a:spcAft>
              <a:buSzPts val="1500"/>
              <a:buChar char="●"/>
            </a:pPr>
            <a:r>
              <a:rPr b="1" lang="en-GB" sz="1500">
                <a:solidFill>
                  <a:schemeClr val="dk1"/>
                </a:solidFill>
              </a:rPr>
              <a:t>ER Status</a:t>
            </a:r>
            <a:endParaRPr b="1" sz="1500">
              <a:solidFill>
                <a:schemeClr val="dk1"/>
              </a:solidFill>
            </a:endParaRPr>
          </a:p>
          <a:p>
            <a:pPr indent="-323850" lvl="0" marL="457200" rtl="0" algn="l">
              <a:lnSpc>
                <a:spcPct val="115000"/>
              </a:lnSpc>
              <a:spcBef>
                <a:spcPts val="0"/>
              </a:spcBef>
              <a:spcAft>
                <a:spcPts val="0"/>
              </a:spcAft>
              <a:buSzPts val="1500"/>
              <a:buChar char="●"/>
            </a:pPr>
            <a:r>
              <a:rPr b="1" lang="en-GB" sz="1500">
                <a:solidFill>
                  <a:schemeClr val="dk1"/>
                </a:solidFill>
              </a:rPr>
              <a:t>PR Status</a:t>
            </a:r>
            <a:endParaRPr b="1" sz="1500">
              <a:solidFill>
                <a:schemeClr val="dk1"/>
              </a:solidFill>
            </a:endParaRPr>
          </a:p>
          <a:p>
            <a:pPr indent="-323850" lvl="0" marL="457200" rtl="0" algn="l">
              <a:lnSpc>
                <a:spcPct val="115000"/>
              </a:lnSpc>
              <a:spcBef>
                <a:spcPts val="0"/>
              </a:spcBef>
              <a:spcAft>
                <a:spcPts val="0"/>
              </a:spcAft>
              <a:buSzPts val="1500"/>
              <a:buChar char="●"/>
            </a:pPr>
            <a:r>
              <a:rPr b="1" lang="en-GB" sz="1500">
                <a:solidFill>
                  <a:schemeClr val="dk1"/>
                </a:solidFill>
              </a:rPr>
              <a:t>HER2 Status</a:t>
            </a:r>
            <a:endParaRPr b="1" sz="1500">
              <a:solidFill>
                <a:schemeClr val="dk1"/>
              </a:solidFill>
            </a:endParaRPr>
          </a:p>
          <a:p>
            <a:pPr indent="0" lvl="0" marL="0" rtl="0" algn="l">
              <a:lnSpc>
                <a:spcPct val="115000"/>
              </a:lnSpc>
              <a:spcBef>
                <a:spcPts val="1400"/>
              </a:spcBef>
              <a:spcAft>
                <a:spcPts val="0"/>
              </a:spcAft>
              <a:buNone/>
            </a:pPr>
            <a:r>
              <a:rPr b="1" lang="en-GB" sz="1700">
                <a:solidFill>
                  <a:schemeClr val="dk1"/>
                </a:solidFill>
              </a:rPr>
              <a:t>🎯 Target Variable</a:t>
            </a:r>
            <a:endParaRPr b="1" sz="1700">
              <a:solidFill>
                <a:schemeClr val="dk1"/>
              </a:solidFill>
            </a:endParaRPr>
          </a:p>
          <a:p>
            <a:pPr indent="0" lvl="0" marL="0" rtl="0" algn="l">
              <a:lnSpc>
                <a:spcPct val="115000"/>
              </a:lnSpc>
              <a:spcBef>
                <a:spcPts val="1200"/>
              </a:spcBef>
              <a:spcAft>
                <a:spcPts val="0"/>
              </a:spcAft>
              <a:buNone/>
            </a:pPr>
            <a:r>
              <a:rPr b="1" lang="en-GB" sz="1500">
                <a:solidFill>
                  <a:schemeClr val="dk1"/>
                </a:solidFill>
              </a:rPr>
              <a:t>Patient's Vital Status — Alive / Died</a:t>
            </a:r>
            <a:endParaRPr b="1" sz="1500">
              <a:solidFill>
                <a:schemeClr val="dk1"/>
              </a:solidFill>
            </a:endParaRPr>
          </a:p>
          <a:p>
            <a:pPr indent="-368300" lvl="0" marL="457200" rtl="0" algn="l">
              <a:lnSpc>
                <a:spcPct val="115000"/>
              </a:lnSpc>
              <a:spcBef>
                <a:spcPts val="1200"/>
              </a:spcBef>
              <a:spcAft>
                <a:spcPts val="0"/>
              </a:spcAft>
              <a:buClr>
                <a:schemeClr val="dk1"/>
              </a:buClr>
              <a:buSzPts val="2200"/>
              <a:buChar char="●"/>
            </a:pPr>
            <a:r>
              <a:t/>
            </a:r>
            <a:endParaRPr b="1" sz="2200">
              <a:solidFill>
                <a:schemeClr val="dk1"/>
              </a:solidFill>
            </a:endParaRPr>
          </a:p>
        </p:txBody>
      </p:sp>
      <p:pic>
        <p:nvPicPr>
          <p:cNvPr id="139" name="Google Shape;139;p24"/>
          <p:cNvPicPr preferRelativeResize="0"/>
          <p:nvPr/>
        </p:nvPicPr>
        <p:blipFill rotWithShape="1">
          <a:blip r:embed="rId4">
            <a:alphaModFix/>
          </a:blip>
          <a:srcRect b="0" l="0" r="0" t="0"/>
          <a:stretch/>
        </p:blipFill>
        <p:spPr>
          <a:xfrm>
            <a:off x="8299466" y="4690671"/>
            <a:ext cx="611424" cy="16151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pic>
        <p:nvPicPr>
          <p:cNvPr descr="A close up of a device&#10;&#10;Description automatically generated" id="144" name="Google Shape;144;p25"/>
          <p:cNvPicPr preferRelativeResize="0"/>
          <p:nvPr/>
        </p:nvPicPr>
        <p:blipFill rotWithShape="1">
          <a:blip r:embed="rId3">
            <a:alphaModFix/>
          </a:blip>
          <a:srcRect b="0" l="0" r="0" t="0"/>
          <a:stretch/>
        </p:blipFill>
        <p:spPr>
          <a:xfrm>
            <a:off x="0" y="0"/>
            <a:ext cx="9143999" cy="5143499"/>
          </a:xfrm>
          <a:prstGeom prst="rect">
            <a:avLst/>
          </a:prstGeom>
          <a:noFill/>
          <a:ln>
            <a:noFill/>
          </a:ln>
        </p:spPr>
      </p:pic>
      <p:sp>
        <p:nvSpPr>
          <p:cNvPr id="145" name="Google Shape;145;p25"/>
          <p:cNvSpPr txBox="1"/>
          <p:nvPr>
            <p:ph type="title"/>
          </p:nvPr>
        </p:nvSpPr>
        <p:spPr>
          <a:xfrm>
            <a:off x="457200" y="233850"/>
            <a:ext cx="6395100" cy="9036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GB" sz="4400">
                <a:latin typeface="Calibri"/>
                <a:ea typeface="Calibri"/>
                <a:cs typeface="Calibri"/>
                <a:sym typeface="Calibri"/>
              </a:rPr>
              <a:t>Model Performance</a:t>
            </a:r>
            <a:endParaRPr b="1" sz="3300"/>
          </a:p>
        </p:txBody>
      </p:sp>
      <p:sp>
        <p:nvSpPr>
          <p:cNvPr id="146" name="Google Shape;146;p25"/>
          <p:cNvSpPr txBox="1"/>
          <p:nvPr>
            <p:ph idx="1" type="body"/>
          </p:nvPr>
        </p:nvSpPr>
        <p:spPr>
          <a:xfrm>
            <a:off x="457200" y="938550"/>
            <a:ext cx="8229600" cy="36909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t/>
            </a:r>
            <a:endParaRPr b="1" sz="1600">
              <a:solidFill>
                <a:schemeClr val="dk1"/>
              </a:solidFill>
            </a:endParaRPr>
          </a:p>
          <a:p>
            <a:pPr indent="-349250" lvl="0" marL="342900" rtl="0" algn="l">
              <a:lnSpc>
                <a:spcPct val="115000"/>
              </a:lnSpc>
              <a:spcBef>
                <a:spcPts val="1200"/>
              </a:spcBef>
              <a:spcAft>
                <a:spcPts val="0"/>
              </a:spcAft>
              <a:buSzPts val="2500"/>
              <a:buChar char="•"/>
            </a:pPr>
            <a:r>
              <a:rPr b="1" lang="en-GB" sz="2500">
                <a:solidFill>
                  <a:schemeClr val="dk1"/>
                </a:solidFill>
              </a:rPr>
              <a:t>Models evaluated using accuracy, precision, recall, and F1-score</a:t>
            </a:r>
            <a:br>
              <a:rPr b="1" lang="en-GB" sz="2500">
                <a:solidFill>
                  <a:schemeClr val="dk1"/>
                </a:solidFill>
              </a:rPr>
            </a:br>
            <a:endParaRPr b="1" sz="2500">
              <a:solidFill>
                <a:schemeClr val="dk1"/>
              </a:solidFill>
            </a:endParaRPr>
          </a:p>
          <a:p>
            <a:pPr indent="-349250" lvl="0" marL="342900" rtl="0" algn="l">
              <a:lnSpc>
                <a:spcPct val="115000"/>
              </a:lnSpc>
              <a:spcBef>
                <a:spcPts val="0"/>
              </a:spcBef>
              <a:spcAft>
                <a:spcPts val="0"/>
              </a:spcAft>
              <a:buSzPts val="2500"/>
              <a:buChar char="•"/>
            </a:pPr>
            <a:r>
              <a:rPr b="1" lang="en-GB" sz="2500">
                <a:solidFill>
                  <a:schemeClr val="dk1"/>
                </a:solidFill>
              </a:rPr>
              <a:t>Random Forest performed better compared to Logistic Regression</a:t>
            </a:r>
            <a:br>
              <a:rPr b="1" lang="en-GB" sz="2500">
                <a:solidFill>
                  <a:schemeClr val="dk1"/>
                </a:solidFill>
              </a:rPr>
            </a:br>
            <a:endParaRPr b="1" sz="2500">
              <a:solidFill>
                <a:schemeClr val="dk1"/>
              </a:solidFill>
            </a:endParaRPr>
          </a:p>
          <a:p>
            <a:pPr indent="0" lvl="0" marL="0" rtl="0" algn="l">
              <a:lnSpc>
                <a:spcPct val="115000"/>
              </a:lnSpc>
              <a:spcBef>
                <a:spcPts val="1200"/>
              </a:spcBef>
              <a:spcAft>
                <a:spcPts val="0"/>
              </a:spcAft>
              <a:buClr>
                <a:schemeClr val="dk1"/>
              </a:buClr>
              <a:buSzPts val="1800"/>
              <a:buFont typeface="Arial"/>
              <a:buNone/>
            </a:pPr>
            <a:r>
              <a:t/>
            </a:r>
            <a:endParaRPr sz="1100">
              <a:solidFill>
                <a:schemeClr val="dk1"/>
              </a:solidFill>
            </a:endParaRPr>
          </a:p>
          <a:p>
            <a:pPr indent="0" lvl="0" marL="0" rtl="0" algn="l">
              <a:lnSpc>
                <a:spcPct val="115000"/>
              </a:lnSpc>
              <a:spcBef>
                <a:spcPts val="1800"/>
              </a:spcBef>
              <a:spcAft>
                <a:spcPts val="0"/>
              </a:spcAft>
              <a:buClr>
                <a:schemeClr val="dk1"/>
              </a:buClr>
              <a:buSzPts val="1800"/>
              <a:buFont typeface="Arial"/>
              <a:buNone/>
            </a:pPr>
            <a:r>
              <a:t/>
            </a:r>
            <a:endParaRPr b="1" sz="1700">
              <a:solidFill>
                <a:schemeClr val="dk1"/>
              </a:solidFill>
            </a:endParaRPr>
          </a:p>
          <a:p>
            <a:pPr indent="0" lvl="0" marL="342900" rtl="0" algn="l">
              <a:lnSpc>
                <a:spcPct val="100000"/>
              </a:lnSpc>
              <a:spcBef>
                <a:spcPts val="1200"/>
              </a:spcBef>
              <a:spcAft>
                <a:spcPts val="0"/>
              </a:spcAft>
              <a:buSzPts val="1800"/>
              <a:buNone/>
            </a:pPr>
            <a:r>
              <a:t/>
            </a:r>
            <a:endParaRPr b="1" sz="2500"/>
          </a:p>
        </p:txBody>
      </p:sp>
      <p:pic>
        <p:nvPicPr>
          <p:cNvPr id="147" name="Google Shape;147;p25"/>
          <p:cNvPicPr preferRelativeResize="0"/>
          <p:nvPr/>
        </p:nvPicPr>
        <p:blipFill rotWithShape="1">
          <a:blip r:embed="rId4">
            <a:alphaModFix/>
          </a:blip>
          <a:srcRect b="0" l="0" r="0" t="0"/>
          <a:stretch/>
        </p:blipFill>
        <p:spPr>
          <a:xfrm>
            <a:off x="8299466" y="4690671"/>
            <a:ext cx="611424" cy="16151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pic>
        <p:nvPicPr>
          <p:cNvPr descr="A close up of a device&#10;&#10;Description automatically generated" id="152" name="Google Shape;152;p26"/>
          <p:cNvPicPr preferRelativeResize="0"/>
          <p:nvPr/>
        </p:nvPicPr>
        <p:blipFill rotWithShape="1">
          <a:blip r:embed="rId3">
            <a:alphaModFix/>
          </a:blip>
          <a:srcRect b="0" l="0" r="0" t="0"/>
          <a:stretch/>
        </p:blipFill>
        <p:spPr>
          <a:xfrm>
            <a:off x="0" y="12859"/>
            <a:ext cx="9143999" cy="5143499"/>
          </a:xfrm>
          <a:prstGeom prst="rect">
            <a:avLst/>
          </a:prstGeom>
          <a:noFill/>
          <a:ln>
            <a:noFill/>
          </a:ln>
        </p:spPr>
      </p:pic>
      <p:sp>
        <p:nvSpPr>
          <p:cNvPr id="153" name="Google Shape;153;p26"/>
          <p:cNvSpPr txBox="1"/>
          <p:nvPr>
            <p:ph type="title"/>
          </p:nvPr>
        </p:nvSpPr>
        <p:spPr>
          <a:xfrm>
            <a:off x="428775" y="101300"/>
            <a:ext cx="6295500" cy="5172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40909"/>
              <a:buFont typeface="Arial"/>
              <a:buNone/>
            </a:pPr>
            <a:r>
              <a:rPr lang="en-GB" sz="4400">
                <a:latin typeface="Calibri"/>
                <a:ea typeface="Calibri"/>
                <a:cs typeface="Calibri"/>
                <a:sym typeface="Calibri"/>
              </a:rPr>
              <a:t>Models Used</a:t>
            </a:r>
            <a:endParaRPr b="1" sz="2800"/>
          </a:p>
        </p:txBody>
      </p:sp>
      <p:sp>
        <p:nvSpPr>
          <p:cNvPr id="154" name="Google Shape;154;p26"/>
          <p:cNvSpPr txBox="1"/>
          <p:nvPr>
            <p:ph idx="1" type="body"/>
          </p:nvPr>
        </p:nvSpPr>
        <p:spPr>
          <a:xfrm>
            <a:off x="113725" y="739250"/>
            <a:ext cx="8899500" cy="4521000"/>
          </a:xfrm>
          <a:prstGeom prst="rect">
            <a:avLst/>
          </a:prstGeom>
          <a:noFill/>
          <a:ln>
            <a:noFill/>
          </a:ln>
        </p:spPr>
        <p:txBody>
          <a:bodyPr anchorCtr="0" anchor="t" bIns="45700" lIns="91425" spcFirstLastPara="1" rIns="91425" wrap="square" tIns="45700">
            <a:noAutofit/>
          </a:bodyPr>
          <a:lstStyle/>
          <a:p>
            <a:pPr indent="0" lvl="0" marL="0" rtl="0" algn="l">
              <a:spcBef>
                <a:spcPts val="360"/>
              </a:spcBef>
              <a:spcAft>
                <a:spcPts val="0"/>
              </a:spcAft>
              <a:buClr>
                <a:schemeClr val="dk1"/>
              </a:buClr>
              <a:buSzPts val="1800"/>
              <a:buFont typeface="Arial"/>
              <a:buNone/>
            </a:pPr>
            <a:r>
              <a:rPr lang="en-GB" sz="3200">
                <a:solidFill>
                  <a:schemeClr val="dk1"/>
                </a:solidFill>
                <a:latin typeface="Calibri"/>
                <a:ea typeface="Calibri"/>
                <a:cs typeface="Calibri"/>
                <a:sym typeface="Calibri"/>
              </a:rPr>
              <a:t> </a:t>
            </a:r>
            <a:r>
              <a:rPr b="1" lang="en-GB" sz="3200">
                <a:solidFill>
                  <a:schemeClr val="dk1"/>
                </a:solidFill>
                <a:latin typeface="Calibri"/>
                <a:ea typeface="Calibri"/>
                <a:cs typeface="Calibri"/>
                <a:sym typeface="Calibri"/>
              </a:rPr>
              <a:t>Logistic Regression (Baseline model).</a:t>
            </a:r>
            <a:br>
              <a:rPr b="1" lang="en-GB" sz="3200">
                <a:solidFill>
                  <a:schemeClr val="dk1"/>
                </a:solidFill>
                <a:latin typeface="Calibri"/>
                <a:ea typeface="Calibri"/>
                <a:cs typeface="Calibri"/>
                <a:sym typeface="Calibri"/>
              </a:rPr>
            </a:br>
            <a:endParaRPr b="1" sz="3200">
              <a:solidFill>
                <a:schemeClr val="dk1"/>
              </a:solidFill>
              <a:latin typeface="Calibri"/>
              <a:ea typeface="Calibri"/>
              <a:cs typeface="Calibri"/>
              <a:sym typeface="Calibri"/>
            </a:endParaRPr>
          </a:p>
          <a:p>
            <a:pPr indent="0" lvl="0" marL="0" rtl="0" algn="l">
              <a:spcBef>
                <a:spcPts val="360"/>
              </a:spcBef>
              <a:spcAft>
                <a:spcPts val="0"/>
              </a:spcAft>
              <a:buClr>
                <a:schemeClr val="dk1"/>
              </a:buClr>
              <a:buSzPts val="1800"/>
              <a:buFont typeface="Arial"/>
              <a:buNone/>
            </a:pPr>
            <a:r>
              <a:rPr b="1" lang="en-GB" sz="3200">
                <a:solidFill>
                  <a:schemeClr val="dk1"/>
                </a:solidFill>
                <a:latin typeface="Calibri"/>
                <a:ea typeface="Calibri"/>
                <a:cs typeface="Calibri"/>
                <a:sym typeface="Calibri"/>
              </a:rPr>
              <a:t>*Random Forest Classifier .</a:t>
            </a:r>
            <a:endParaRPr b="1" sz="3200">
              <a:solidFill>
                <a:schemeClr val="dk1"/>
              </a:solidFill>
              <a:latin typeface="Calibri"/>
              <a:ea typeface="Calibri"/>
              <a:cs typeface="Calibri"/>
              <a:sym typeface="Calibri"/>
            </a:endParaRPr>
          </a:p>
          <a:p>
            <a:pPr indent="0" lvl="0" marL="0" rtl="0" algn="l">
              <a:spcBef>
                <a:spcPts val="360"/>
              </a:spcBef>
              <a:spcAft>
                <a:spcPts val="0"/>
              </a:spcAft>
              <a:buClr>
                <a:schemeClr val="dk1"/>
              </a:buClr>
              <a:buSzPts val="1800"/>
              <a:buFont typeface="Arial"/>
              <a:buNone/>
            </a:pPr>
            <a:r>
              <a:rPr b="1" lang="en-GB" sz="3200">
                <a:solidFill>
                  <a:schemeClr val="dk1"/>
                </a:solidFill>
                <a:latin typeface="Calibri"/>
                <a:ea typeface="Calibri"/>
                <a:cs typeface="Calibri"/>
                <a:sym typeface="Calibri"/>
              </a:rPr>
              <a:t>*</a:t>
            </a:r>
            <a:r>
              <a:rPr b="1" lang="en-GB" sz="1300">
                <a:solidFill>
                  <a:schemeClr val="dk1"/>
                </a:solidFill>
              </a:rPr>
              <a:t>C</a:t>
            </a:r>
            <a:r>
              <a:rPr b="1" lang="en-GB">
                <a:solidFill>
                  <a:schemeClr val="dk1"/>
                </a:solidFill>
              </a:rPr>
              <a:t>ross Validation</a:t>
            </a:r>
            <a:endParaRPr b="1">
              <a:solidFill>
                <a:schemeClr val="dk1"/>
              </a:solidFill>
            </a:endParaRPr>
          </a:p>
          <a:p>
            <a:pPr indent="-355600" lvl="0" marL="457200" rtl="0" algn="l">
              <a:lnSpc>
                <a:spcPct val="115000"/>
              </a:lnSpc>
              <a:spcBef>
                <a:spcPts val="1200"/>
              </a:spcBef>
              <a:spcAft>
                <a:spcPts val="0"/>
              </a:spcAft>
              <a:buSzPts val="2000"/>
              <a:buChar char="●"/>
            </a:pPr>
            <a:r>
              <a:rPr b="1" lang="en-GB" sz="2000">
                <a:solidFill>
                  <a:schemeClr val="dk1"/>
                </a:solidFill>
              </a:rPr>
              <a:t>Cross validation was applied to evaluate model stability</a:t>
            </a:r>
            <a:br>
              <a:rPr b="1" lang="en-GB" sz="2000">
                <a:solidFill>
                  <a:schemeClr val="dk1"/>
                </a:solidFill>
              </a:rPr>
            </a:br>
            <a:endParaRPr b="1" sz="2000">
              <a:solidFill>
                <a:schemeClr val="dk1"/>
              </a:solidFill>
            </a:endParaRPr>
          </a:p>
          <a:p>
            <a:pPr indent="-355600" lvl="0" marL="457200" rtl="0" algn="l">
              <a:lnSpc>
                <a:spcPct val="115000"/>
              </a:lnSpc>
              <a:spcBef>
                <a:spcPts val="0"/>
              </a:spcBef>
              <a:spcAft>
                <a:spcPts val="0"/>
              </a:spcAft>
              <a:buSzPts val="2000"/>
              <a:buChar char="●"/>
            </a:pPr>
            <a:r>
              <a:rPr b="1" lang="en-GB" sz="2000">
                <a:solidFill>
                  <a:schemeClr val="dk1"/>
                </a:solidFill>
              </a:rPr>
              <a:t>It helped in reducing overfitting</a:t>
            </a:r>
            <a:br>
              <a:rPr b="1" lang="en-GB" sz="2000">
                <a:solidFill>
                  <a:schemeClr val="dk1"/>
                </a:solidFill>
              </a:rPr>
            </a:br>
            <a:endParaRPr b="1" sz="2000">
              <a:solidFill>
                <a:schemeClr val="dk1"/>
              </a:solidFill>
            </a:endParaRPr>
          </a:p>
          <a:p>
            <a:pPr indent="-355600" lvl="0" marL="457200" rtl="0" algn="l">
              <a:lnSpc>
                <a:spcPct val="115000"/>
              </a:lnSpc>
              <a:spcBef>
                <a:spcPts val="0"/>
              </a:spcBef>
              <a:spcAft>
                <a:spcPts val="0"/>
              </a:spcAft>
              <a:buSzPts val="2000"/>
              <a:buChar char="●"/>
            </a:pPr>
            <a:r>
              <a:rPr b="1" lang="en-GB" sz="2000">
                <a:solidFill>
                  <a:schemeClr val="dk1"/>
                </a:solidFill>
              </a:rPr>
              <a:t>Improved reliability of the Random Forest model</a:t>
            </a:r>
            <a:br>
              <a:rPr b="1" lang="en-GB" sz="2000">
                <a:solidFill>
                  <a:schemeClr val="dk1"/>
                </a:solidFill>
              </a:rPr>
            </a:br>
            <a:endParaRPr b="1" sz="2000">
              <a:solidFill>
                <a:schemeClr val="dk1"/>
              </a:solidFill>
            </a:endParaRPr>
          </a:p>
          <a:p>
            <a:pPr indent="0" lvl="0" marL="0" rtl="0" algn="l">
              <a:spcBef>
                <a:spcPts val="1200"/>
              </a:spcBef>
              <a:spcAft>
                <a:spcPts val="0"/>
              </a:spcAft>
              <a:buClr>
                <a:schemeClr val="dk1"/>
              </a:buClr>
              <a:buSzPts val="1800"/>
              <a:buFont typeface="Arial"/>
              <a:buNone/>
            </a:pPr>
            <a:r>
              <a:t/>
            </a:r>
            <a:endParaRPr sz="37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t/>
            </a:r>
            <a:endParaRPr b="1" sz="1650">
              <a:latin typeface="Sora"/>
              <a:ea typeface="Sora"/>
              <a:cs typeface="Sora"/>
              <a:sym typeface="Sora"/>
            </a:endParaRPr>
          </a:p>
          <a:p>
            <a:pPr indent="0" lvl="0" marL="0" rtl="0" algn="l">
              <a:lnSpc>
                <a:spcPct val="115000"/>
              </a:lnSpc>
              <a:spcBef>
                <a:spcPts val="1200"/>
              </a:spcBef>
              <a:spcAft>
                <a:spcPts val="1200"/>
              </a:spcAft>
              <a:buSzPts val="1800"/>
              <a:buNone/>
            </a:pPr>
            <a:r>
              <a:t/>
            </a:r>
            <a:endParaRPr b="1" sz="1650">
              <a:latin typeface="Sora"/>
              <a:ea typeface="Sora"/>
              <a:cs typeface="Sora"/>
              <a:sym typeface="Sora"/>
            </a:endParaRPr>
          </a:p>
        </p:txBody>
      </p:sp>
      <p:pic>
        <p:nvPicPr>
          <p:cNvPr id="155" name="Google Shape;155;p26"/>
          <p:cNvPicPr preferRelativeResize="0"/>
          <p:nvPr/>
        </p:nvPicPr>
        <p:blipFill rotWithShape="1">
          <a:blip r:embed="rId4">
            <a:alphaModFix/>
          </a:blip>
          <a:srcRect b="0" l="0" r="0" t="0"/>
          <a:stretch/>
        </p:blipFill>
        <p:spPr>
          <a:xfrm>
            <a:off x="8299466" y="4702633"/>
            <a:ext cx="611424" cy="16151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pic>
        <p:nvPicPr>
          <p:cNvPr descr="A close up of a device&#10;&#10;Description automatically generated" id="160" name="Google Shape;160;p27"/>
          <p:cNvPicPr preferRelativeResize="0"/>
          <p:nvPr/>
        </p:nvPicPr>
        <p:blipFill rotWithShape="1">
          <a:blip r:embed="rId3">
            <a:alphaModFix/>
          </a:blip>
          <a:srcRect b="0" l="0" r="0" t="0"/>
          <a:stretch/>
        </p:blipFill>
        <p:spPr>
          <a:xfrm>
            <a:off x="0" y="0"/>
            <a:ext cx="9143999" cy="5143499"/>
          </a:xfrm>
          <a:prstGeom prst="rect">
            <a:avLst/>
          </a:prstGeom>
          <a:noFill/>
          <a:ln>
            <a:noFill/>
          </a:ln>
        </p:spPr>
      </p:pic>
      <p:sp>
        <p:nvSpPr>
          <p:cNvPr id="161" name="Google Shape;161;p27"/>
          <p:cNvSpPr txBox="1"/>
          <p:nvPr>
            <p:ph type="title"/>
          </p:nvPr>
        </p:nvSpPr>
        <p:spPr>
          <a:xfrm>
            <a:off x="298575" y="0"/>
            <a:ext cx="3733200" cy="645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960"/>
              <a:buFont typeface="Calibri"/>
              <a:buNone/>
            </a:pPr>
            <a:r>
              <a:rPr b="1" lang="en-GB" sz="4060">
                <a:latin typeface="Calibri"/>
                <a:ea typeface="Calibri"/>
                <a:cs typeface="Calibri"/>
                <a:sym typeface="Calibri"/>
              </a:rPr>
              <a:t>Conclusion</a:t>
            </a:r>
            <a:endParaRPr b="1" sz="3070"/>
          </a:p>
        </p:txBody>
      </p:sp>
      <p:sp>
        <p:nvSpPr>
          <p:cNvPr id="162" name="Google Shape;162;p27"/>
          <p:cNvSpPr txBox="1"/>
          <p:nvPr>
            <p:ph idx="1" type="body"/>
          </p:nvPr>
        </p:nvSpPr>
        <p:spPr>
          <a:xfrm>
            <a:off x="0" y="582875"/>
            <a:ext cx="9144000" cy="4620300"/>
          </a:xfrm>
          <a:prstGeom prst="rect">
            <a:avLst/>
          </a:prstGeom>
          <a:noFill/>
          <a:ln>
            <a:noFill/>
          </a:ln>
        </p:spPr>
        <p:txBody>
          <a:bodyPr anchorCtr="0" anchor="t" bIns="45700" lIns="91425" spcFirstLastPara="1" rIns="91425" wrap="square" tIns="45700">
            <a:noAutofit/>
          </a:bodyPr>
          <a:lstStyle/>
          <a:p>
            <a:pPr indent="-330200" lvl="0" marL="342900" rtl="0" algn="l">
              <a:spcBef>
                <a:spcPts val="640"/>
              </a:spcBef>
              <a:spcAft>
                <a:spcPts val="0"/>
              </a:spcAft>
              <a:buSzPts val="1800"/>
              <a:buChar char="•"/>
            </a:pPr>
            <a:r>
              <a:rPr b="1" lang="en-GB">
                <a:solidFill>
                  <a:schemeClr val="dk1"/>
                </a:solidFill>
                <a:latin typeface="Calibri"/>
                <a:ea typeface="Calibri"/>
                <a:cs typeface="Calibri"/>
                <a:sym typeface="Calibri"/>
              </a:rPr>
              <a:t>In this project, machine learning models were used to predict breast cancer patient survival status.</a:t>
            </a:r>
            <a:br>
              <a:rPr b="1" lang="en-GB">
                <a:solidFill>
                  <a:schemeClr val="dk1"/>
                </a:solidFill>
                <a:latin typeface="Calibri"/>
                <a:ea typeface="Calibri"/>
                <a:cs typeface="Calibri"/>
                <a:sym typeface="Calibri"/>
              </a:rPr>
            </a:br>
            <a:endParaRPr b="1">
              <a:solidFill>
                <a:schemeClr val="dk1"/>
              </a:solidFill>
              <a:latin typeface="Calibri"/>
              <a:ea typeface="Calibri"/>
              <a:cs typeface="Calibri"/>
              <a:sym typeface="Calibri"/>
            </a:endParaRPr>
          </a:p>
          <a:p>
            <a:pPr indent="-330200" lvl="0" marL="342900" rtl="0" algn="l">
              <a:spcBef>
                <a:spcPts val="640"/>
              </a:spcBef>
              <a:spcAft>
                <a:spcPts val="0"/>
              </a:spcAft>
              <a:buSzPts val="1800"/>
              <a:buChar char="•"/>
            </a:pPr>
            <a:r>
              <a:rPr b="1" lang="en-GB">
                <a:solidFill>
                  <a:schemeClr val="dk1"/>
                </a:solidFill>
                <a:latin typeface="Calibri"/>
                <a:ea typeface="Calibri"/>
                <a:cs typeface="Calibri"/>
                <a:sym typeface="Calibri"/>
              </a:rPr>
              <a:t>Data preprocessing and exploratory data analysis helped in understanding important patterns in the dataset.</a:t>
            </a:r>
            <a:br>
              <a:rPr b="1" lang="en-GB">
                <a:solidFill>
                  <a:schemeClr val="dk1"/>
                </a:solidFill>
                <a:latin typeface="Calibri"/>
                <a:ea typeface="Calibri"/>
                <a:cs typeface="Calibri"/>
                <a:sym typeface="Calibri"/>
              </a:rPr>
            </a:br>
            <a:endParaRPr b="1">
              <a:solidFill>
                <a:schemeClr val="dk1"/>
              </a:solidFill>
              <a:latin typeface="Calibri"/>
              <a:ea typeface="Calibri"/>
              <a:cs typeface="Calibri"/>
              <a:sym typeface="Calibri"/>
            </a:endParaRPr>
          </a:p>
          <a:p>
            <a:pPr indent="-330200" lvl="0" marL="342900" rtl="0" algn="l">
              <a:spcBef>
                <a:spcPts val="640"/>
              </a:spcBef>
              <a:spcAft>
                <a:spcPts val="0"/>
              </a:spcAft>
              <a:buSzPts val="1800"/>
              <a:buChar char="•"/>
            </a:pPr>
            <a:r>
              <a:rPr b="1" lang="en-GB">
                <a:solidFill>
                  <a:schemeClr val="dk1"/>
                </a:solidFill>
                <a:latin typeface="Calibri"/>
                <a:ea typeface="Calibri"/>
                <a:cs typeface="Calibri"/>
                <a:sym typeface="Calibri"/>
              </a:rPr>
              <a:t>Missing values were handled using median and mode techniques.</a:t>
            </a:r>
            <a:br>
              <a:rPr b="1" lang="en-GB">
                <a:solidFill>
                  <a:schemeClr val="dk1"/>
                </a:solidFill>
                <a:latin typeface="Calibri"/>
                <a:ea typeface="Calibri"/>
                <a:cs typeface="Calibri"/>
                <a:sym typeface="Calibri"/>
              </a:rPr>
            </a:br>
            <a:endParaRPr b="1">
              <a:solidFill>
                <a:schemeClr val="dk1"/>
              </a:solidFill>
              <a:latin typeface="Calibri"/>
              <a:ea typeface="Calibri"/>
              <a:cs typeface="Calibri"/>
              <a:sym typeface="Calibri"/>
            </a:endParaRPr>
          </a:p>
          <a:p>
            <a:pPr indent="-330200" lvl="0" marL="342900" rtl="0" algn="l">
              <a:spcBef>
                <a:spcPts val="640"/>
              </a:spcBef>
              <a:spcAft>
                <a:spcPts val="0"/>
              </a:spcAft>
              <a:buSzPts val="1800"/>
              <a:buChar char="•"/>
            </a:pPr>
            <a:r>
              <a:rPr b="1" lang="en-GB">
                <a:solidFill>
                  <a:schemeClr val="dk1"/>
                </a:solidFill>
                <a:latin typeface="Calibri"/>
                <a:ea typeface="Calibri"/>
                <a:cs typeface="Calibri"/>
                <a:sym typeface="Calibri"/>
              </a:rPr>
              <a:t>Multiple models were trained and evaluated using performance metrics.</a:t>
            </a:r>
            <a:br>
              <a:rPr b="1" lang="en-GB">
                <a:solidFill>
                  <a:schemeClr val="dk1"/>
                </a:solidFill>
                <a:latin typeface="Calibri"/>
                <a:ea typeface="Calibri"/>
                <a:cs typeface="Calibri"/>
                <a:sym typeface="Calibri"/>
              </a:rPr>
            </a:br>
            <a:endParaRPr b="1">
              <a:solidFill>
                <a:schemeClr val="dk1"/>
              </a:solidFill>
              <a:latin typeface="Calibri"/>
              <a:ea typeface="Calibri"/>
              <a:cs typeface="Calibri"/>
              <a:sym typeface="Calibri"/>
            </a:endParaRPr>
          </a:p>
          <a:p>
            <a:pPr indent="-330200" lvl="0" marL="342900" rtl="0" algn="l">
              <a:spcBef>
                <a:spcPts val="640"/>
              </a:spcBef>
              <a:spcAft>
                <a:spcPts val="0"/>
              </a:spcAft>
              <a:buSzPts val="1800"/>
              <a:buChar char="•"/>
            </a:pPr>
            <a:r>
              <a:rPr b="1" lang="en-GB">
                <a:solidFill>
                  <a:schemeClr val="dk1"/>
                </a:solidFill>
                <a:latin typeface="Calibri"/>
                <a:ea typeface="Calibri"/>
                <a:cs typeface="Calibri"/>
                <a:sym typeface="Calibri"/>
              </a:rPr>
              <a:t>Random Forest Classifier performed better and was selected as the final model.</a:t>
            </a:r>
            <a:br>
              <a:rPr b="1" lang="en-GB">
                <a:solidFill>
                  <a:schemeClr val="dk1"/>
                </a:solidFill>
                <a:latin typeface="Calibri"/>
                <a:ea typeface="Calibri"/>
                <a:cs typeface="Calibri"/>
                <a:sym typeface="Calibri"/>
              </a:rPr>
            </a:br>
            <a:endParaRPr b="1">
              <a:solidFill>
                <a:schemeClr val="dk1"/>
              </a:solidFill>
              <a:latin typeface="Calibri"/>
              <a:ea typeface="Calibri"/>
              <a:cs typeface="Calibri"/>
              <a:sym typeface="Calibri"/>
            </a:endParaRPr>
          </a:p>
          <a:p>
            <a:pPr indent="-330200" lvl="0" marL="342900" rtl="0" algn="l">
              <a:spcBef>
                <a:spcPts val="640"/>
              </a:spcBef>
              <a:spcAft>
                <a:spcPts val="0"/>
              </a:spcAft>
              <a:buSzPts val="1800"/>
              <a:buChar char="•"/>
            </a:pPr>
            <a:r>
              <a:rPr b="1" lang="en-GB">
                <a:solidFill>
                  <a:schemeClr val="dk1"/>
                </a:solidFill>
                <a:latin typeface="Calibri"/>
                <a:ea typeface="Calibri"/>
                <a:cs typeface="Calibri"/>
                <a:sym typeface="Calibri"/>
              </a:rPr>
              <a:t>The results show that machine learning can assist in early risk prediction and decision support</a:t>
            </a:r>
            <a:endParaRPr b="1" sz="100">
              <a:solidFill>
                <a:srgbClr val="1F1F1F"/>
              </a:solidFill>
              <a:latin typeface="Sora"/>
              <a:ea typeface="Sora"/>
              <a:cs typeface="Sora"/>
              <a:sym typeface="Sora"/>
            </a:endParaRPr>
          </a:p>
        </p:txBody>
      </p:sp>
      <p:pic>
        <p:nvPicPr>
          <p:cNvPr id="163" name="Google Shape;163;p27"/>
          <p:cNvPicPr preferRelativeResize="0"/>
          <p:nvPr/>
        </p:nvPicPr>
        <p:blipFill rotWithShape="1">
          <a:blip r:embed="rId4">
            <a:alphaModFix/>
          </a:blip>
          <a:srcRect b="0" l="0" r="0" t="0"/>
          <a:stretch/>
        </p:blipFill>
        <p:spPr>
          <a:xfrm>
            <a:off x="8299466" y="4690671"/>
            <a:ext cx="611424" cy="16151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pic>
        <p:nvPicPr>
          <p:cNvPr descr="A close up of a device&#10;&#10;Description automatically generated" id="168" name="Google Shape;168;p28"/>
          <p:cNvPicPr preferRelativeResize="0"/>
          <p:nvPr/>
        </p:nvPicPr>
        <p:blipFill rotWithShape="1">
          <a:blip r:embed="rId3">
            <a:alphaModFix/>
          </a:blip>
          <a:srcRect b="0" l="0" r="0" t="0"/>
          <a:stretch/>
        </p:blipFill>
        <p:spPr>
          <a:xfrm>
            <a:off x="0" y="0"/>
            <a:ext cx="9143999" cy="5143499"/>
          </a:xfrm>
          <a:prstGeom prst="rect">
            <a:avLst/>
          </a:prstGeom>
          <a:noFill/>
          <a:ln>
            <a:noFill/>
          </a:ln>
        </p:spPr>
      </p:pic>
      <p:sp>
        <p:nvSpPr>
          <p:cNvPr id="169" name="Google Shape;169;p28"/>
          <p:cNvSpPr txBox="1"/>
          <p:nvPr>
            <p:ph type="title"/>
          </p:nvPr>
        </p:nvSpPr>
        <p:spPr>
          <a:xfrm>
            <a:off x="457200" y="0"/>
            <a:ext cx="7503900" cy="8385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GB" sz="4400">
                <a:latin typeface="Calibri"/>
                <a:ea typeface="Calibri"/>
                <a:cs typeface="Calibri"/>
                <a:sym typeface="Calibri"/>
              </a:rPr>
              <a:t>Limitations &amp; Future Scope</a:t>
            </a:r>
            <a:endParaRPr b="1" sz="4400">
              <a:latin typeface="Calibri"/>
              <a:ea typeface="Calibri"/>
              <a:cs typeface="Calibri"/>
              <a:sym typeface="Calibri"/>
            </a:endParaRPr>
          </a:p>
          <a:p>
            <a:pPr indent="0" lvl="0" marL="0" rtl="0" algn="ctr">
              <a:lnSpc>
                <a:spcPct val="100000"/>
              </a:lnSpc>
              <a:spcBef>
                <a:spcPts val="0"/>
              </a:spcBef>
              <a:spcAft>
                <a:spcPts val="0"/>
              </a:spcAft>
              <a:buClr>
                <a:schemeClr val="dk1"/>
              </a:buClr>
              <a:buSzPct val="125714"/>
              <a:buFont typeface="Calibri"/>
              <a:buNone/>
            </a:pPr>
            <a:r>
              <a:t/>
            </a:r>
            <a:endParaRPr b="1" sz="3500"/>
          </a:p>
        </p:txBody>
      </p:sp>
      <p:sp>
        <p:nvSpPr>
          <p:cNvPr id="170" name="Google Shape;170;p28"/>
          <p:cNvSpPr txBox="1"/>
          <p:nvPr>
            <p:ph idx="1" type="body"/>
          </p:nvPr>
        </p:nvSpPr>
        <p:spPr>
          <a:xfrm>
            <a:off x="457200" y="1126700"/>
            <a:ext cx="8229600" cy="4346700"/>
          </a:xfrm>
          <a:prstGeom prst="rect">
            <a:avLst/>
          </a:prstGeom>
          <a:noFill/>
          <a:ln>
            <a:noFill/>
          </a:ln>
        </p:spPr>
        <p:txBody>
          <a:bodyPr anchorCtr="0" anchor="t" bIns="45700" lIns="91425" spcFirstLastPara="1" rIns="91425" wrap="square" tIns="45700">
            <a:noAutofit/>
          </a:bodyPr>
          <a:lstStyle/>
          <a:p>
            <a:pPr indent="-336550" lvl="0" marL="457200" rtl="0" algn="l">
              <a:lnSpc>
                <a:spcPct val="115000"/>
              </a:lnSpc>
              <a:spcBef>
                <a:spcPts val="1200"/>
              </a:spcBef>
              <a:spcAft>
                <a:spcPts val="0"/>
              </a:spcAft>
              <a:buSzPts val="1700"/>
              <a:buChar char="●"/>
            </a:pPr>
            <a:r>
              <a:t/>
            </a:r>
            <a:endParaRPr b="1" sz="1600">
              <a:solidFill>
                <a:schemeClr val="dk1"/>
              </a:solidFill>
            </a:endParaRPr>
          </a:p>
          <a:p>
            <a:pPr indent="0" lvl="0" marL="0" rtl="0" algn="l">
              <a:lnSpc>
                <a:spcPct val="115000"/>
              </a:lnSpc>
              <a:spcBef>
                <a:spcPts val="1200"/>
              </a:spcBef>
              <a:spcAft>
                <a:spcPts val="0"/>
              </a:spcAft>
              <a:buNone/>
            </a:pPr>
            <a:r>
              <a:rPr b="1" lang="en-GB" sz="1500">
                <a:solidFill>
                  <a:schemeClr val="dk1"/>
                </a:solidFill>
              </a:rPr>
              <a:t>Limitations</a:t>
            </a:r>
            <a:endParaRPr b="1" sz="1500">
              <a:solidFill>
                <a:schemeClr val="dk1"/>
              </a:solidFill>
            </a:endParaRPr>
          </a:p>
          <a:p>
            <a:pPr indent="-323850" lvl="0" marL="457200" rtl="0" algn="l">
              <a:lnSpc>
                <a:spcPct val="115000"/>
              </a:lnSpc>
              <a:spcBef>
                <a:spcPts val="1200"/>
              </a:spcBef>
              <a:spcAft>
                <a:spcPts val="0"/>
              </a:spcAft>
              <a:buSzPts val="1500"/>
              <a:buChar char="●"/>
            </a:pPr>
            <a:r>
              <a:rPr b="1" lang="en-GB" sz="1500">
                <a:solidFill>
                  <a:schemeClr val="dk1"/>
                </a:solidFill>
              </a:rPr>
              <a:t>Dataset limited to available records</a:t>
            </a:r>
            <a:br>
              <a:rPr b="1" lang="en-GB" sz="1500">
                <a:solidFill>
                  <a:schemeClr val="dk1"/>
                </a:solidFill>
              </a:rPr>
            </a:br>
            <a:endParaRPr b="1" sz="1500">
              <a:solidFill>
                <a:schemeClr val="dk1"/>
              </a:solidFill>
            </a:endParaRPr>
          </a:p>
          <a:p>
            <a:pPr indent="-323850" lvl="0" marL="457200" rtl="0" algn="l">
              <a:lnSpc>
                <a:spcPct val="115000"/>
              </a:lnSpc>
              <a:spcBef>
                <a:spcPts val="0"/>
              </a:spcBef>
              <a:spcAft>
                <a:spcPts val="0"/>
              </a:spcAft>
              <a:buSzPts val="1500"/>
              <a:buChar char="●"/>
            </a:pPr>
            <a:r>
              <a:rPr b="1" lang="en-GB" sz="1500">
                <a:solidFill>
                  <a:schemeClr val="dk1"/>
                </a:solidFill>
              </a:rPr>
              <a:t>Model performance may vary on unseen data</a:t>
            </a:r>
            <a:br>
              <a:rPr b="1" lang="en-GB" sz="1500">
                <a:solidFill>
                  <a:schemeClr val="dk1"/>
                </a:solidFill>
              </a:rPr>
            </a:br>
            <a:endParaRPr b="1" sz="1500">
              <a:solidFill>
                <a:schemeClr val="dk1"/>
              </a:solidFill>
            </a:endParaRPr>
          </a:p>
          <a:p>
            <a:pPr indent="0" lvl="0" marL="0" rtl="0" algn="l">
              <a:lnSpc>
                <a:spcPct val="115000"/>
              </a:lnSpc>
              <a:spcBef>
                <a:spcPts val="1200"/>
              </a:spcBef>
              <a:spcAft>
                <a:spcPts val="0"/>
              </a:spcAft>
              <a:buNone/>
            </a:pPr>
            <a:r>
              <a:rPr b="1" lang="en-GB" sz="1500">
                <a:solidFill>
                  <a:schemeClr val="dk1"/>
                </a:solidFill>
              </a:rPr>
              <a:t>Future Scope</a:t>
            </a:r>
            <a:endParaRPr b="1" sz="1500">
              <a:solidFill>
                <a:schemeClr val="dk1"/>
              </a:solidFill>
            </a:endParaRPr>
          </a:p>
          <a:p>
            <a:pPr indent="-323850" lvl="0" marL="457200" rtl="0" algn="l">
              <a:lnSpc>
                <a:spcPct val="115000"/>
              </a:lnSpc>
              <a:spcBef>
                <a:spcPts val="1200"/>
              </a:spcBef>
              <a:spcAft>
                <a:spcPts val="0"/>
              </a:spcAft>
              <a:buSzPts val="1500"/>
              <a:buChar char="●"/>
            </a:pPr>
            <a:r>
              <a:rPr b="1" lang="en-GB" sz="1500">
                <a:solidFill>
                  <a:schemeClr val="dk1"/>
                </a:solidFill>
              </a:rPr>
              <a:t>Use larger dataset</a:t>
            </a:r>
            <a:br>
              <a:rPr b="1" lang="en-GB" sz="1500">
                <a:solidFill>
                  <a:schemeClr val="dk1"/>
                </a:solidFill>
              </a:rPr>
            </a:br>
            <a:endParaRPr b="1" sz="1500">
              <a:solidFill>
                <a:schemeClr val="dk1"/>
              </a:solidFill>
            </a:endParaRPr>
          </a:p>
          <a:p>
            <a:pPr indent="-323850" lvl="0" marL="457200" rtl="0" algn="l">
              <a:lnSpc>
                <a:spcPct val="115000"/>
              </a:lnSpc>
              <a:spcBef>
                <a:spcPts val="0"/>
              </a:spcBef>
              <a:spcAft>
                <a:spcPts val="0"/>
              </a:spcAft>
              <a:buSzPts val="1500"/>
              <a:buChar char="●"/>
            </a:pPr>
            <a:r>
              <a:rPr b="1" lang="en-GB" sz="1500">
                <a:solidFill>
                  <a:schemeClr val="dk1"/>
                </a:solidFill>
              </a:rPr>
              <a:t>Try advanced models</a:t>
            </a:r>
            <a:br>
              <a:rPr b="1" lang="en-GB" sz="1500">
                <a:solidFill>
                  <a:schemeClr val="dk1"/>
                </a:solidFill>
              </a:rPr>
            </a:br>
            <a:endParaRPr b="1" sz="1500">
              <a:solidFill>
                <a:schemeClr val="dk1"/>
              </a:solidFill>
            </a:endParaRPr>
          </a:p>
          <a:p>
            <a:pPr indent="-336550" lvl="0" marL="457200" rtl="0" algn="l">
              <a:lnSpc>
                <a:spcPct val="115000"/>
              </a:lnSpc>
              <a:spcBef>
                <a:spcPts val="0"/>
              </a:spcBef>
              <a:spcAft>
                <a:spcPts val="0"/>
              </a:spcAft>
              <a:buSzPts val="1700"/>
              <a:buChar char="●"/>
            </a:pPr>
            <a:r>
              <a:rPr b="1" lang="en-GB" sz="1500">
                <a:solidFill>
                  <a:schemeClr val="dk1"/>
                </a:solidFill>
              </a:rPr>
              <a:t>Deploy as a web application</a:t>
            </a:r>
            <a:br>
              <a:rPr b="1" lang="en-GB" sz="1700">
                <a:solidFill>
                  <a:schemeClr val="dk1"/>
                </a:solidFill>
              </a:rPr>
            </a:br>
            <a:endParaRPr b="1" sz="2000"/>
          </a:p>
        </p:txBody>
      </p:sp>
      <p:pic>
        <p:nvPicPr>
          <p:cNvPr id="171" name="Google Shape;171;p28"/>
          <p:cNvPicPr preferRelativeResize="0"/>
          <p:nvPr/>
        </p:nvPicPr>
        <p:blipFill rotWithShape="1">
          <a:blip r:embed="rId4">
            <a:alphaModFix/>
          </a:blip>
          <a:srcRect b="0" l="0" r="0" t="0"/>
          <a:stretch/>
        </p:blipFill>
        <p:spPr>
          <a:xfrm>
            <a:off x="8299466" y="4690671"/>
            <a:ext cx="611424" cy="16151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9"/>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t/>
            </a:r>
            <a:endParaRPr/>
          </a:p>
        </p:txBody>
      </p:sp>
      <p:sp>
        <p:nvSpPr>
          <p:cNvPr id="177" name="Google Shape;177;p29"/>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0"/>
              </a:spcAft>
              <a:buSzPts val="1800"/>
              <a:buNone/>
            </a:pPr>
            <a:r>
              <a:t/>
            </a:r>
            <a:endParaRPr/>
          </a:p>
        </p:txBody>
      </p:sp>
      <p:pic>
        <p:nvPicPr>
          <p:cNvPr descr="A close up of a device&#10;&#10;Description automatically generated" id="178" name="Google Shape;178;p29"/>
          <p:cNvPicPr preferRelativeResize="0"/>
          <p:nvPr/>
        </p:nvPicPr>
        <p:blipFill rotWithShape="1">
          <a:blip r:embed="rId3">
            <a:alphaModFix/>
          </a:blip>
          <a:srcRect b="0" l="0" r="0" t="0"/>
          <a:stretch/>
        </p:blipFill>
        <p:spPr>
          <a:xfrm>
            <a:off x="0" y="0"/>
            <a:ext cx="9143999" cy="5143499"/>
          </a:xfrm>
          <a:prstGeom prst="rect">
            <a:avLst/>
          </a:prstGeom>
          <a:noFill/>
          <a:ln>
            <a:noFill/>
          </a:ln>
        </p:spPr>
      </p:pic>
      <p:pic>
        <p:nvPicPr>
          <p:cNvPr id="179" name="Google Shape;179;p29"/>
          <p:cNvPicPr preferRelativeResize="0"/>
          <p:nvPr/>
        </p:nvPicPr>
        <p:blipFill rotWithShape="1">
          <a:blip r:embed="rId4">
            <a:alphaModFix/>
          </a:blip>
          <a:srcRect b="0" l="0" r="0" t="0"/>
          <a:stretch/>
        </p:blipFill>
        <p:spPr>
          <a:xfrm>
            <a:off x="8299466" y="4690671"/>
            <a:ext cx="611424" cy="161518"/>
          </a:xfrm>
          <a:prstGeom prst="rect">
            <a:avLst/>
          </a:prstGeom>
          <a:noFill/>
          <a:ln>
            <a:noFill/>
          </a:ln>
        </p:spPr>
      </p:pic>
      <p:pic>
        <p:nvPicPr>
          <p:cNvPr descr="Handshake - Free business icons" id="180" name="Google Shape;180;p29"/>
          <p:cNvPicPr preferRelativeResize="0"/>
          <p:nvPr/>
        </p:nvPicPr>
        <p:blipFill rotWithShape="1">
          <a:blip r:embed="rId5">
            <a:alphaModFix/>
          </a:blip>
          <a:srcRect b="0" l="0" r="0" t="0"/>
          <a:stretch/>
        </p:blipFill>
        <p:spPr>
          <a:xfrm>
            <a:off x="1698207" y="1401178"/>
            <a:ext cx="3048000" cy="3048000"/>
          </a:xfrm>
          <a:prstGeom prst="rect">
            <a:avLst/>
          </a:prstGeom>
          <a:noFill/>
          <a:ln>
            <a:noFill/>
          </a:ln>
        </p:spPr>
      </p:pic>
      <p:sp>
        <p:nvSpPr>
          <p:cNvPr id="181" name="Google Shape;181;p29"/>
          <p:cNvSpPr txBox="1"/>
          <p:nvPr/>
        </p:nvSpPr>
        <p:spPr>
          <a:xfrm>
            <a:off x="749900" y="1015525"/>
            <a:ext cx="4944600" cy="1031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5500"/>
              <a:buFont typeface="Arial"/>
              <a:buNone/>
            </a:pPr>
            <a:r>
              <a:rPr b="1" i="0" lang="en-GB" sz="5500" u="none" cap="none" strike="noStrike">
                <a:solidFill>
                  <a:srgbClr val="323F4F"/>
                </a:solidFill>
                <a:latin typeface="Balthazar"/>
                <a:ea typeface="Balthazar"/>
                <a:cs typeface="Balthazar"/>
                <a:sym typeface="Balthazar"/>
              </a:rPr>
              <a:t>THANK YOU</a:t>
            </a:r>
            <a:endParaRPr b="0" i="0" sz="900" u="none" cap="none" strike="noStrike">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0"/>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187" name="Google Shape;187;p30"/>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1"/>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193" name="Google Shape;193;p31"/>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199" name="Google Shape;199;p3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205" name="Google Shape;205;p3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211" name="Google Shape;211;p3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5"/>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217" name="Google Shape;217;p35"/>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